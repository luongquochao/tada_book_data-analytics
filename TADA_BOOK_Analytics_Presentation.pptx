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34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18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543800" y="594360"/>
            <a:ext cx="3977639" cy="5440680"/>
          </a:xfrm>
          <a:prstGeom prst="roundRect">
            <a:avLst/>
          </a:prstGeom>
          <a:solidFill>
            <a:srgbClr val="FFC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15300" y="1234440"/>
            <a:ext cx="2834640" cy="585216"/>
          </a:xfrm>
          <a:prstGeom prst="roundRect">
            <a:avLst/>
          </a:prstGeom>
          <a:solidFill>
            <a:srgbClr val="827D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98179" y="1344168"/>
            <a:ext cx="7315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99348" y="1399032"/>
            <a:ext cx="224028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CATEGORY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2029968"/>
            <a:ext cx="3246120" cy="585216"/>
          </a:xfrm>
          <a:prstGeom prst="roundRect">
            <a:avLst/>
          </a:prstGeom>
          <a:solidFill>
            <a:srgbClr val="2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092440" y="2139696"/>
            <a:ext cx="7315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93608" y="2194560"/>
            <a:ext cx="265176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PRICING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834640"/>
            <a:ext cx="2606040" cy="585216"/>
          </a:xfrm>
          <a:prstGeom prst="roundRect">
            <a:avLst/>
          </a:prstGeom>
          <a:solidFill>
            <a:srgbClr val="278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412480" y="2944368"/>
            <a:ext cx="7315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13648" y="2999232"/>
            <a:ext cx="201168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REVIEWS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3639312"/>
            <a:ext cx="3063240" cy="585216"/>
          </a:xfrm>
          <a:prstGeom prst="roundRect">
            <a:avLst/>
          </a:prstGeom>
          <a:solidFill>
            <a:srgbClr val="D9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83879" y="3749039"/>
            <a:ext cx="7315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85048" y="3803904"/>
            <a:ext cx="246888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PREDICTION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54112" y="4645152"/>
            <a:ext cx="1115568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0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18120" y="4782312"/>
            <a:ext cx="987552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02A44"/>
                </a:solidFill>
                <a:latin typeface="Arial"/>
              </a:rPr>
              <a:t>$22.89M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5138928"/>
            <a:ext cx="98755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Arial"/>
              </a:rPr>
              <a:t>Revenue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88552" y="4645152"/>
            <a:ext cx="1115568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0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52560" y="4782312"/>
            <a:ext cx="987552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02A44"/>
                </a:solidFill>
                <a:latin typeface="Arial"/>
              </a:rPr>
              <a:t>4.96M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5138928"/>
            <a:ext cx="98755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Arial"/>
              </a:rPr>
              <a:t>Units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22992" y="4645152"/>
            <a:ext cx="1115568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0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287000" y="4782312"/>
            <a:ext cx="987552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02A44"/>
                </a:solidFill>
                <a:latin typeface="Arial"/>
              </a:rPr>
              <a:t>92.6%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7000" y="5138928"/>
            <a:ext cx="98755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Arial"/>
              </a:rPr>
              <a:t>RF F1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786384"/>
            <a:ext cx="5925312" cy="612648"/>
          </a:xfrm>
          <a:prstGeom prst="roundRect">
            <a:avLst/>
          </a:prstGeom>
          <a:solidFill>
            <a:srgbClr val="F7E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39368" y="847934"/>
            <a:ext cx="5327904" cy="5293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FFCFAB"/>
                </a:solidFill>
                <a:latin typeface="Aptos"/>
              </a:defRPr>
            </a:pPr>
            <a:r>
              <a:rPr lang="vi-V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SÀN THƯƠNG MẠI ĐIỆN TỬ HÀNG ĐẦU CHUYÊN SÂU VỀ NGÀNH HÀNG SÁCH TẠI VIỆT NAM</a:t>
            </a:r>
            <a:endParaRPr lang="vi-VN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31520" y="1572768"/>
            <a:ext cx="6217920" cy="6035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202A44"/>
                </a:solidFill>
                <a:latin typeface="Arial"/>
              </a:rPr>
              <a:t>TADA BOOK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884236"/>
            <a:ext cx="6400800" cy="11155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 dirty="0">
                <a:solidFill>
                  <a:srgbClr val="D96B35"/>
                </a:solidFill>
                <a:latin typeface="Arial"/>
              </a:rPr>
              <a:t>PHÂN TÍCH KINH DOANH</a:t>
            </a:r>
            <a:br>
              <a:rPr dirty="0"/>
            </a:br>
            <a:r>
              <a:rPr sz="2400" b="1" i="0" dirty="0">
                <a:solidFill>
                  <a:srgbClr val="D96B35"/>
                </a:solidFill>
                <a:latin typeface="Arial"/>
              </a:rPr>
              <a:t>VÀ NHẬN DIỆN SÁCH BÁN CHẠY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2284035"/>
            <a:ext cx="594360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400"/>
              </a:spcAft>
              <a:defRPr sz="3400" b="1" i="0">
                <a:solidFill>
                  <a:srgbClr val="FFFFFF"/>
                </a:solidFill>
                <a:latin typeface="Aptos"/>
              </a:defRPr>
            </a:pPr>
            <a:r>
              <a:rPr lang="vi-VN" sz="24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“Mở trang sách, mở thế giới”</a:t>
            </a:r>
            <a:endParaRPr lang="vi-VN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768096" y="4937760"/>
            <a:ext cx="4672584" cy="0"/>
          </a:xfrm>
          <a:prstGeom prst="line">
            <a:avLst/>
          </a:prstGeom>
          <a:ln w="25400">
            <a:solidFill>
              <a:srgbClr val="F18A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68096" y="5175504"/>
            <a:ext cx="617220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vi-VN" sz="1100" dirty="0">
                <a:solidFill>
                  <a:srgbClr val="6B7280"/>
                </a:solidFill>
                <a:latin typeface="Arial"/>
              </a:rPr>
              <a:t>Lương Quốc Hào</a:t>
            </a:r>
            <a:endParaRPr sz="1100" b="0" i="0" dirty="0">
              <a:solidFill>
                <a:srgbClr val="6B7280"/>
              </a:solidFill>
              <a:latin typeface="Arial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68096" y="6080760"/>
            <a:ext cx="3657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02A44"/>
                </a:solidFill>
                <a:latin typeface="Arial"/>
              </a:rPr>
              <a:t>TADA BOOK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18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02A44"/>
                </a:solidFill>
                <a:latin typeface="Arial"/>
              </a:rPr>
              <a:t>Tóm tắt điều hành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05840"/>
            <a:ext cx="1106424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dirty="0" err="1">
                <a:solidFill>
                  <a:srgbClr val="6B7280"/>
                </a:solidFill>
                <a:latin typeface="Arial"/>
              </a:rPr>
              <a:t>Bức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tranh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kinh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doanh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được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tổng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hợp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từ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dataset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đã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xử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lý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và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các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k</a:t>
            </a:r>
            <a:r>
              <a:rPr lang="vi-VN" sz="1000" b="0" i="0" dirty="0" err="1">
                <a:solidFill>
                  <a:srgbClr val="6B7280"/>
                </a:solidFill>
                <a:latin typeface="Arial"/>
              </a:rPr>
              <a:t>ết</a:t>
            </a:r>
            <a:r>
              <a:rPr lang="vi-VN" sz="1000" b="0" i="0" dirty="0">
                <a:solidFill>
                  <a:srgbClr val="6B7280"/>
                </a:solidFill>
                <a:latin typeface="Arial"/>
              </a:rPr>
              <a:t> quả </a:t>
            </a:r>
            <a:r>
              <a:rPr lang="vi-VN" sz="1000" b="0" i="0" dirty="0" err="1">
                <a:solidFill>
                  <a:srgbClr val="6B7280"/>
                </a:solidFill>
                <a:latin typeface="Arial"/>
              </a:rPr>
              <a:t>Task</a:t>
            </a:r>
            <a:r>
              <a:rPr lang="vi-VN" sz="1000" b="0" i="0" dirty="0">
                <a:solidFill>
                  <a:srgbClr val="6B7280"/>
                </a:solidFill>
                <a:latin typeface="Arial"/>
              </a:rPr>
              <a:t> 6–9.</a:t>
            </a:r>
            <a:endParaRPr sz="1000" b="0" i="0" dirty="0">
              <a:solidFill>
                <a:srgbClr val="6B7280"/>
              </a:solidFill>
              <a:latin typeface="Arial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8890">
            <a:solidFill>
              <a:srgbClr val="E7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21207" y="6565392"/>
            <a:ext cx="45720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 dirty="0">
                <a:solidFill>
                  <a:srgbClr val="6B7280"/>
                </a:solidFill>
                <a:latin typeface="Arial"/>
              </a:rPr>
              <a:t>TADA BOOK ANALYTICS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56248"/>
            <a:ext cx="8229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B7280"/>
                </a:solidFill>
                <a:latin typeface="Arial"/>
              </a:rPr>
              <a:t>02 /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481328"/>
            <a:ext cx="2633472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0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0352" y="1481328"/>
            <a:ext cx="64008" cy="1051560"/>
          </a:xfrm>
          <a:prstGeom prst="rect">
            <a:avLst/>
          </a:prstGeom>
          <a:solidFill>
            <a:srgbClr val="F18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4944" y="1609344"/>
            <a:ext cx="2340864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280"/>
                </a:solidFill>
                <a:latin typeface="Arial"/>
              </a:rPr>
              <a:t>TỔNG DOANH THU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74520"/>
            <a:ext cx="2340864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02A44"/>
                </a:solidFill>
                <a:latin typeface="Arial"/>
              </a:rPr>
              <a:t>$22.89M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2221992"/>
            <a:ext cx="2340864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dirty="0" err="1">
                <a:solidFill>
                  <a:srgbClr val="6B7280"/>
                </a:solidFill>
                <a:latin typeface="Arial"/>
              </a:rPr>
              <a:t>trên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 1.767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đầu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sách</a:t>
            </a:r>
            <a:endParaRPr sz="900" b="0" i="0" dirty="0">
              <a:solidFill>
                <a:srgbClr val="6B7280"/>
              </a:solidFill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392424" y="1481328"/>
            <a:ext cx="2633472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0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92424" y="1481328"/>
            <a:ext cx="64008" cy="1051560"/>
          </a:xfrm>
          <a:prstGeom prst="rect">
            <a:avLst/>
          </a:prstGeom>
          <a:solidFill>
            <a:srgbClr val="827D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57016" y="1609344"/>
            <a:ext cx="2340864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280"/>
                </a:solidFill>
                <a:latin typeface="Arial"/>
              </a:rPr>
              <a:t>SẢN LƯỢNG BÁN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7016" y="1874520"/>
            <a:ext cx="2340864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02A44"/>
                </a:solidFill>
                <a:latin typeface="Arial"/>
              </a:rPr>
              <a:t>4.96M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7016" y="2221992"/>
            <a:ext cx="2340864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dirty="0" err="1">
                <a:solidFill>
                  <a:srgbClr val="6B7280"/>
                </a:solidFill>
                <a:latin typeface="Arial"/>
              </a:rPr>
              <a:t>cuốn</a:t>
            </a:r>
            <a:endParaRPr sz="800" b="0" i="0" dirty="0">
              <a:solidFill>
                <a:srgbClr val="6B7280"/>
              </a:solidFill>
              <a:latin typeface="Arial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54496" y="1481328"/>
            <a:ext cx="2633472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0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54496" y="1481328"/>
            <a:ext cx="64008" cy="1051560"/>
          </a:xfrm>
          <a:prstGeom prst="rect">
            <a:avLst/>
          </a:prstGeom>
          <a:solidFill>
            <a:srgbClr val="278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19088" y="1609344"/>
            <a:ext cx="2340864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280"/>
                </a:solidFill>
                <a:latin typeface="Arial"/>
              </a:rPr>
              <a:t>RATING TB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1874520"/>
            <a:ext cx="2340864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02A44"/>
                </a:solidFill>
                <a:latin typeface="Arial"/>
              </a:rPr>
              <a:t>4.60 /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2221992"/>
            <a:ext cx="2340864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dirty="0">
                <a:solidFill>
                  <a:srgbClr val="6B7280"/>
                </a:solidFill>
                <a:latin typeface="Arial"/>
              </a:rPr>
              <a:t>median 4.80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16568" y="1481328"/>
            <a:ext cx="2633472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0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116568" y="1481328"/>
            <a:ext cx="64008" cy="1051560"/>
          </a:xfrm>
          <a:prstGeom prst="rect">
            <a:avLst/>
          </a:prstGeom>
          <a:solidFill>
            <a:srgbClr val="C8A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281160" y="1609344"/>
            <a:ext cx="2340864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280"/>
                </a:solidFill>
                <a:latin typeface="Arial"/>
              </a:rPr>
              <a:t>GIẢM GIÁ TB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1874520"/>
            <a:ext cx="2340864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02A44"/>
                </a:solidFill>
                <a:latin typeface="Arial"/>
              </a:rPr>
              <a:t>27.24%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2221992"/>
            <a:ext cx="2340864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dirty="0" err="1">
                <a:solidFill>
                  <a:srgbClr val="6B7280"/>
                </a:solidFill>
                <a:latin typeface="Arial"/>
              </a:rPr>
              <a:t>toàn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danh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mục</a:t>
            </a:r>
            <a:endParaRPr sz="900" b="0" i="0" dirty="0">
              <a:solidFill>
                <a:srgbClr val="6B7280"/>
              </a:solidFill>
              <a:latin typeface="Arial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30352" y="2779776"/>
            <a:ext cx="5577840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0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9808" y="2999232"/>
            <a:ext cx="50292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96B35"/>
                </a:solidFill>
                <a:latin typeface="Arial"/>
              </a:rPr>
              <a:t>DATASET • 1.767 DÒNG × 18 TRƯỜNG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3355848"/>
            <a:ext cx="169164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04C91"/>
                </a:solidFill>
                <a:latin typeface="Arial"/>
              </a:rPr>
              <a:t>Định danh &amp; mô tả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3621024"/>
            <a:ext cx="498348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A3141"/>
                </a:solidFill>
                <a:latin typeface="Arial"/>
              </a:rPr>
              <a:t>product_id · title · authors · category · manufacturer · cover_link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4178808"/>
            <a:ext cx="169164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04C91"/>
                </a:solidFill>
                <a:latin typeface="Arial"/>
              </a:rPr>
              <a:t>Giá &amp; bán hàng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4443984"/>
            <a:ext cx="498348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A3141"/>
                </a:solidFill>
                <a:latin typeface="Arial"/>
              </a:rPr>
              <a:t>original_price · current_price · quantity · discount · discount_percent · revenue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" y="5010912"/>
            <a:ext cx="242316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04C91"/>
                </a:solidFill>
                <a:latin typeface="Arial"/>
              </a:rPr>
              <a:t>Tín hiệu khách hàng &amp; phân nhóm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5285232"/>
            <a:ext cx="498348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A3141"/>
                </a:solidFill>
                <a:latin typeface="Arial"/>
              </a:rPr>
              <a:t>n_review · avg_rating · pages · price_segment · rating_group · page_segment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27648" y="2779776"/>
            <a:ext cx="5321808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0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65392" y="2999232"/>
            <a:ext cx="36576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96B35"/>
                </a:solidFill>
                <a:latin typeface="Arial"/>
              </a:rPr>
              <a:t>EXECUTIVE TAKEAWAYS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65392" y="3401568"/>
            <a:ext cx="438912" cy="292608"/>
          </a:xfrm>
          <a:prstGeom prst="roundRect">
            <a:avLst/>
          </a:prstGeom>
          <a:solidFill>
            <a:srgbClr val="EAE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38544" y="3438144"/>
            <a:ext cx="292607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04C91"/>
                </a:solidFill>
                <a:latin typeface="Arial"/>
              </a:rPr>
              <a:t>01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50608" y="3401568"/>
            <a:ext cx="41148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02A44"/>
                </a:solidFill>
                <a:latin typeface="Arial"/>
              </a:rPr>
              <a:t>Danh mục giá thấp tạo quy mô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50608" y="3666744"/>
            <a:ext cx="40690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A3141"/>
                </a:solidFill>
                <a:latin typeface="Arial"/>
              </a:rPr>
              <a:t>Phân khúc dưới $5 đóng góp 53,96% doanh thu.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65392" y="4224528"/>
            <a:ext cx="438912" cy="292608"/>
          </a:xfrm>
          <a:prstGeom prst="roundRect">
            <a:avLst/>
          </a:prstGeom>
          <a:solidFill>
            <a:srgbClr val="EAE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638544" y="4261104"/>
            <a:ext cx="292607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04C91"/>
                </a:solidFill>
                <a:latin typeface="Arial"/>
              </a:rPr>
              <a:t>02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50608" y="4224528"/>
            <a:ext cx="41148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02A44"/>
                </a:solidFill>
                <a:latin typeface="Arial"/>
              </a:rPr>
              <a:t>Một category nổi bật theo hiệu quả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50608" y="4489704"/>
            <a:ext cx="40690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A3141"/>
                </a:solidFill>
                <a:latin typeface="Arial"/>
              </a:rPr>
              <a:t>Sách Nghệ Thuật Sống Đẹp đạt khoảng $61,2K doanh thu/đầu sách.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65392" y="5047488"/>
            <a:ext cx="438912" cy="292608"/>
          </a:xfrm>
          <a:prstGeom prst="roundRect">
            <a:avLst/>
          </a:prstGeom>
          <a:solidFill>
            <a:srgbClr val="EAE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638544" y="5084064"/>
            <a:ext cx="292607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04C91"/>
                </a:solidFill>
                <a:latin typeface="Arial"/>
              </a:rPr>
              <a:t>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50608" y="5047488"/>
            <a:ext cx="41148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02A44"/>
                </a:solidFill>
                <a:latin typeface="Arial"/>
              </a:rPr>
              <a:t>Review là tín hiệu ML mạnh nhất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50608" y="5312664"/>
            <a:ext cx="40690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A3141"/>
                </a:solidFill>
                <a:latin typeface="Arial"/>
              </a:rPr>
              <a:t>n_review chiếm 60,42% Feature Importance; không đồng nghĩa nhân quả.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18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02A44"/>
                </a:solidFill>
                <a:latin typeface="Arial"/>
              </a:rPr>
              <a:t>Mục tiêu, phạm vi và cách tiếp cận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05840"/>
            <a:ext cx="11064240" cy="1985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 dirty="0">
                <a:solidFill>
                  <a:srgbClr val="6B7280"/>
                </a:solidFill>
                <a:latin typeface="Arial"/>
              </a:rPr>
              <a:t>Khung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phân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tích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: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mô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tả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hiệu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quả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hiện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tại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→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phân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loại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Bestseller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theo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quy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ước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dự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án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→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đề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xuất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thử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nghiệm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8890">
            <a:solidFill>
              <a:srgbClr val="E7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21207" y="6565392"/>
            <a:ext cx="45720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B7280"/>
                </a:solidFill>
                <a:latin typeface="Arial"/>
              </a:rPr>
              <a:t>TADA BOOK ANALYTICS  •  TASK 6–10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56248"/>
            <a:ext cx="8229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B7280"/>
                </a:solidFill>
                <a:latin typeface="Arial"/>
              </a:rPr>
              <a:t>03 /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645920"/>
            <a:ext cx="2578608" cy="1737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0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645920"/>
            <a:ext cx="2578608" cy="91440"/>
          </a:xfrm>
          <a:prstGeom prst="rect">
            <a:avLst/>
          </a:prstGeom>
          <a:solidFill>
            <a:srgbClr val="827D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" y="1901952"/>
            <a:ext cx="429768" cy="292608"/>
          </a:xfrm>
          <a:prstGeom prst="roundRect">
            <a:avLst/>
          </a:prstGeom>
          <a:solidFill>
            <a:srgbClr val="F7E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1938528"/>
            <a:ext cx="283463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27DBB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6925" y="1943100"/>
            <a:ext cx="22402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202A44"/>
                </a:solidFill>
                <a:latin typeface="Arial"/>
              </a:rPr>
              <a:t>MÔ TẢ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455164"/>
            <a:ext cx="2221992" cy="59093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 dirty="0" err="1">
                <a:solidFill>
                  <a:srgbClr val="2A3141"/>
                </a:solidFill>
                <a:latin typeface="Arial"/>
              </a:rPr>
              <a:t>Tổng</a:t>
            </a:r>
            <a:r>
              <a:rPr sz="1200" b="0" i="0" dirty="0">
                <a:solidFill>
                  <a:srgbClr val="2A3141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2A3141"/>
                </a:solidFill>
                <a:latin typeface="Arial"/>
              </a:rPr>
              <a:t>quan</a:t>
            </a:r>
            <a:r>
              <a:rPr sz="1200" b="0" i="0" dirty="0">
                <a:solidFill>
                  <a:srgbClr val="2A3141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2A3141"/>
                </a:solidFill>
                <a:latin typeface="Arial"/>
              </a:rPr>
              <a:t>doanh</a:t>
            </a:r>
            <a:r>
              <a:rPr sz="1200" b="0" i="0" dirty="0">
                <a:solidFill>
                  <a:srgbClr val="2A3141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2A3141"/>
                </a:solidFill>
                <a:latin typeface="Arial"/>
              </a:rPr>
              <a:t>thu</a:t>
            </a:r>
            <a:r>
              <a:rPr sz="1200" b="0" i="0" dirty="0">
                <a:solidFill>
                  <a:srgbClr val="2A3141"/>
                </a:solidFill>
                <a:latin typeface="Arial"/>
              </a:rPr>
              <a:t>, quantity, category, publisher, </a:t>
            </a:r>
            <a:r>
              <a:rPr sz="1200" b="0" i="0" dirty="0" err="1">
                <a:solidFill>
                  <a:srgbClr val="2A3141"/>
                </a:solidFill>
                <a:latin typeface="Arial"/>
              </a:rPr>
              <a:t>giá</a:t>
            </a:r>
            <a:r>
              <a:rPr sz="1200" b="0" i="0" dirty="0">
                <a:solidFill>
                  <a:srgbClr val="2A3141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2A3141"/>
                </a:solidFill>
                <a:latin typeface="Arial"/>
              </a:rPr>
              <a:t>và</a:t>
            </a:r>
            <a:r>
              <a:rPr sz="1200" b="0" i="0" dirty="0">
                <a:solidFill>
                  <a:srgbClr val="2A3141"/>
                </a:solidFill>
                <a:latin typeface="Arial"/>
              </a:rPr>
              <a:t> rating.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2968" y="2295144"/>
            <a:ext cx="256032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D96B35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38144" y="1645920"/>
            <a:ext cx="2578608" cy="1737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0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438144" y="1645920"/>
            <a:ext cx="2578608" cy="91440"/>
          </a:xfrm>
          <a:prstGeom prst="rect">
            <a:avLst/>
          </a:prstGeom>
          <a:solidFill>
            <a:srgbClr val="F18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602736" y="1901952"/>
            <a:ext cx="429768" cy="292608"/>
          </a:xfrm>
          <a:prstGeom prst="roundRect">
            <a:avLst/>
          </a:prstGeom>
          <a:solidFill>
            <a:srgbClr val="F7E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75888" y="1938528"/>
            <a:ext cx="283463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18A56"/>
                </a:solidFill>
                <a:latin typeface="Arial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23942" y="1943100"/>
            <a:ext cx="22402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202A44"/>
                </a:solidFill>
                <a:latin typeface="Arial"/>
              </a:rPr>
              <a:t>GIẢI THÍCH TÍN HIỆU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2736" y="2455164"/>
            <a:ext cx="2221992" cy="59093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2A3141"/>
                </a:solidFill>
                <a:latin typeface="Arial"/>
              </a:rPr>
              <a:t>EDA, </a:t>
            </a:r>
            <a:r>
              <a:rPr sz="1200" b="0" i="0" dirty="0" err="1">
                <a:solidFill>
                  <a:srgbClr val="2A3141"/>
                </a:solidFill>
                <a:latin typeface="Arial"/>
              </a:rPr>
              <a:t>tương</a:t>
            </a:r>
            <a:r>
              <a:rPr sz="1200" b="0" i="0" dirty="0">
                <a:solidFill>
                  <a:srgbClr val="2A3141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2A3141"/>
                </a:solidFill>
                <a:latin typeface="Arial"/>
              </a:rPr>
              <a:t>quan</a:t>
            </a:r>
            <a:r>
              <a:rPr sz="1200" b="0" i="0" dirty="0">
                <a:solidFill>
                  <a:srgbClr val="2A3141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2A3141"/>
                </a:solidFill>
                <a:latin typeface="Arial"/>
              </a:rPr>
              <a:t>và</a:t>
            </a:r>
            <a:r>
              <a:rPr sz="1200" b="0" i="0" dirty="0">
                <a:solidFill>
                  <a:srgbClr val="2A3141"/>
                </a:solidFill>
                <a:latin typeface="Arial"/>
              </a:rPr>
              <a:t> Feature Importance </a:t>
            </a:r>
            <a:r>
              <a:rPr sz="1200" b="0" i="0" dirty="0" err="1">
                <a:solidFill>
                  <a:srgbClr val="2A3141"/>
                </a:solidFill>
                <a:latin typeface="Arial"/>
              </a:rPr>
              <a:t>để</a:t>
            </a:r>
            <a:r>
              <a:rPr sz="1200" b="0" i="0" dirty="0">
                <a:solidFill>
                  <a:srgbClr val="2A3141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2A3141"/>
                </a:solidFill>
                <a:latin typeface="Arial"/>
              </a:rPr>
              <a:t>xác</a:t>
            </a:r>
            <a:r>
              <a:rPr sz="1200" b="0" i="0" dirty="0">
                <a:solidFill>
                  <a:srgbClr val="2A3141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2A3141"/>
                </a:solidFill>
                <a:latin typeface="Arial"/>
              </a:rPr>
              <a:t>định</a:t>
            </a:r>
            <a:r>
              <a:rPr sz="1200" b="0" i="0" dirty="0">
                <a:solidFill>
                  <a:srgbClr val="2A3141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2A3141"/>
                </a:solidFill>
                <a:latin typeface="Arial"/>
              </a:rPr>
              <a:t>tín</a:t>
            </a:r>
            <a:r>
              <a:rPr sz="1200" b="0" i="0" dirty="0">
                <a:solidFill>
                  <a:srgbClr val="2A3141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2A3141"/>
                </a:solidFill>
                <a:latin typeface="Arial"/>
              </a:rPr>
              <a:t>hiệu</a:t>
            </a:r>
            <a:r>
              <a:rPr sz="1200" b="0" i="0" dirty="0">
                <a:solidFill>
                  <a:srgbClr val="2A3141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2A3141"/>
                </a:solidFill>
                <a:latin typeface="Arial"/>
              </a:rPr>
              <a:t>đáng</a:t>
            </a:r>
            <a:r>
              <a:rPr sz="1200" b="0" i="0" dirty="0">
                <a:solidFill>
                  <a:srgbClr val="2A3141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2A3141"/>
                </a:solidFill>
                <a:latin typeface="Arial"/>
              </a:rPr>
              <a:t>chú</a:t>
            </a:r>
            <a:r>
              <a:rPr sz="1200" b="0" i="0" dirty="0">
                <a:solidFill>
                  <a:srgbClr val="2A3141"/>
                </a:solidFill>
                <a:latin typeface="Arial"/>
              </a:rPr>
              <a:t> ý.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44184" y="2295144"/>
            <a:ext cx="256032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D96B35"/>
                </a:solidFill>
                <a:latin typeface="Arial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1645920"/>
            <a:ext cx="2578608" cy="1737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0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309360" y="1645920"/>
            <a:ext cx="2578608" cy="91440"/>
          </a:xfrm>
          <a:prstGeom prst="rect">
            <a:avLst/>
          </a:prstGeom>
          <a:solidFill>
            <a:srgbClr val="278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473952" y="1901952"/>
            <a:ext cx="429768" cy="292608"/>
          </a:xfrm>
          <a:prstGeom prst="roundRect">
            <a:avLst/>
          </a:prstGeom>
          <a:solidFill>
            <a:srgbClr val="F7E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47104" y="1938528"/>
            <a:ext cx="283463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78A79"/>
                </a:solidFill>
                <a:latin typeface="Arial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13450" y="1943100"/>
            <a:ext cx="22402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202A44"/>
                </a:solidFill>
                <a:latin typeface="Arial"/>
              </a:rPr>
              <a:t>PHÂN LOẠI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2455594"/>
            <a:ext cx="2221992" cy="59093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2A3141"/>
                </a:solidFill>
                <a:latin typeface="Arial"/>
              </a:rPr>
              <a:t>So </a:t>
            </a:r>
            <a:r>
              <a:rPr sz="1200" b="0" i="0" dirty="0" err="1">
                <a:solidFill>
                  <a:srgbClr val="2A3141"/>
                </a:solidFill>
                <a:latin typeface="Arial"/>
              </a:rPr>
              <a:t>sánh</a:t>
            </a:r>
            <a:r>
              <a:rPr sz="1200" b="0" i="0" dirty="0">
                <a:solidFill>
                  <a:srgbClr val="2A3141"/>
                </a:solidFill>
                <a:latin typeface="Arial"/>
              </a:rPr>
              <a:t> Logistic Regression </a:t>
            </a:r>
            <a:r>
              <a:rPr sz="1200" b="0" i="0" dirty="0" err="1">
                <a:solidFill>
                  <a:srgbClr val="2A3141"/>
                </a:solidFill>
                <a:latin typeface="Arial"/>
              </a:rPr>
              <a:t>và</a:t>
            </a:r>
            <a:r>
              <a:rPr sz="1200" b="0" i="0" dirty="0">
                <a:solidFill>
                  <a:srgbClr val="2A3141"/>
                </a:solidFill>
                <a:latin typeface="Arial"/>
              </a:rPr>
              <a:t> Random Forest </a:t>
            </a:r>
            <a:r>
              <a:rPr sz="1200" b="0" i="0" dirty="0" err="1">
                <a:solidFill>
                  <a:srgbClr val="2A3141"/>
                </a:solidFill>
                <a:latin typeface="Arial"/>
              </a:rPr>
              <a:t>trên</a:t>
            </a:r>
            <a:r>
              <a:rPr sz="1200" b="0" i="0" dirty="0">
                <a:solidFill>
                  <a:srgbClr val="2A3141"/>
                </a:solidFill>
                <a:latin typeface="Arial"/>
              </a:rPr>
              <a:t> holdout test.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2295144"/>
            <a:ext cx="256032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D96B35"/>
                </a:solidFill>
                <a:latin typeface="Arial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80576" y="1645920"/>
            <a:ext cx="2578608" cy="1737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0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80576" y="1645920"/>
            <a:ext cx="2578608" cy="91440"/>
          </a:xfrm>
          <a:prstGeom prst="rect">
            <a:avLst/>
          </a:prstGeom>
          <a:solidFill>
            <a:srgbClr val="C8A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345167" y="1901952"/>
            <a:ext cx="429768" cy="292608"/>
          </a:xfrm>
          <a:prstGeom prst="roundRect">
            <a:avLst/>
          </a:prstGeom>
          <a:solidFill>
            <a:srgbClr val="F7E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418319" y="1938528"/>
            <a:ext cx="283463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8A64B"/>
                </a:solidFill>
                <a:latin typeface="Arial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02958" y="1943100"/>
            <a:ext cx="22402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02A44"/>
                </a:solidFill>
                <a:latin typeface="Arial"/>
              </a:rPr>
              <a:t>ĐỀ XUẤT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45167" y="2455594"/>
            <a:ext cx="2221992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 dirty="0" err="1">
                <a:solidFill>
                  <a:srgbClr val="2A3141"/>
                </a:solidFill>
                <a:latin typeface="Arial"/>
              </a:rPr>
              <a:t>Gắn</a:t>
            </a:r>
            <a:r>
              <a:rPr sz="1200" b="0" i="0" dirty="0">
                <a:solidFill>
                  <a:srgbClr val="2A3141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2A3141"/>
                </a:solidFill>
                <a:latin typeface="Arial"/>
              </a:rPr>
              <a:t>hành</a:t>
            </a:r>
            <a:r>
              <a:rPr sz="1200" b="0" i="0" dirty="0">
                <a:solidFill>
                  <a:srgbClr val="2A3141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2A3141"/>
                </a:solidFill>
                <a:latin typeface="Arial"/>
              </a:rPr>
              <a:t>động</a:t>
            </a:r>
            <a:r>
              <a:rPr sz="1200" b="0" i="0" dirty="0">
                <a:solidFill>
                  <a:srgbClr val="2A3141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2A3141"/>
                </a:solidFill>
                <a:latin typeface="Arial"/>
              </a:rPr>
              <a:t>với</a:t>
            </a:r>
            <a:r>
              <a:rPr sz="1200" b="0" i="0" dirty="0">
                <a:solidFill>
                  <a:srgbClr val="2A3141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2A3141"/>
                </a:solidFill>
                <a:latin typeface="Arial"/>
              </a:rPr>
              <a:t>chủ</a:t>
            </a:r>
            <a:r>
              <a:rPr sz="1200" b="0" i="0" dirty="0">
                <a:solidFill>
                  <a:srgbClr val="2A3141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2A3141"/>
                </a:solidFill>
                <a:latin typeface="Arial"/>
              </a:rPr>
              <a:t>sở</a:t>
            </a:r>
            <a:r>
              <a:rPr sz="1200" b="0" i="0" dirty="0">
                <a:solidFill>
                  <a:srgbClr val="2A3141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2A3141"/>
                </a:solidFill>
                <a:latin typeface="Arial"/>
              </a:rPr>
              <a:t>hữu</a:t>
            </a:r>
            <a:r>
              <a:rPr sz="1200" b="0" i="0" dirty="0">
                <a:solidFill>
                  <a:srgbClr val="2A3141"/>
                </a:solidFill>
                <a:latin typeface="Arial"/>
              </a:rPr>
              <a:t>, KPI, </a:t>
            </a:r>
            <a:r>
              <a:rPr sz="1200" b="0" i="0" dirty="0" err="1">
                <a:solidFill>
                  <a:srgbClr val="2A3141"/>
                </a:solidFill>
                <a:latin typeface="Arial"/>
              </a:rPr>
              <a:t>nhóm</a:t>
            </a:r>
            <a:r>
              <a:rPr sz="1200" b="0" i="0" dirty="0">
                <a:solidFill>
                  <a:srgbClr val="2A3141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2A3141"/>
                </a:solidFill>
                <a:latin typeface="Arial"/>
              </a:rPr>
              <a:t>đối</a:t>
            </a:r>
            <a:r>
              <a:rPr sz="1200" b="0" i="0" dirty="0">
                <a:solidFill>
                  <a:srgbClr val="2A3141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2A3141"/>
                </a:solidFill>
                <a:latin typeface="Arial"/>
              </a:rPr>
              <a:t>chứng</a:t>
            </a:r>
            <a:r>
              <a:rPr sz="1200" b="0" i="0" dirty="0">
                <a:solidFill>
                  <a:srgbClr val="2A3141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2A3141"/>
                </a:solidFill>
                <a:latin typeface="Arial"/>
              </a:rPr>
              <a:t>và</a:t>
            </a:r>
            <a:r>
              <a:rPr sz="1200" b="0" i="0" dirty="0">
                <a:solidFill>
                  <a:srgbClr val="2A3141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2A3141"/>
                </a:solidFill>
                <a:latin typeface="Arial"/>
              </a:rPr>
              <a:t>lộ</a:t>
            </a:r>
            <a:r>
              <a:rPr sz="1200" b="0" i="0" dirty="0">
                <a:solidFill>
                  <a:srgbClr val="2A3141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2A3141"/>
                </a:solidFill>
                <a:latin typeface="Arial"/>
              </a:rPr>
              <a:t>trình</a:t>
            </a:r>
            <a:r>
              <a:rPr sz="1200" b="0" i="0" dirty="0">
                <a:solidFill>
                  <a:srgbClr val="2A3141"/>
                </a:solidFill>
                <a:latin typeface="Arial"/>
              </a:rPr>
              <a:t>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3767328"/>
            <a:ext cx="5394960" cy="2011680"/>
          </a:xfrm>
          <a:prstGeom prst="roundRect">
            <a:avLst/>
          </a:prstGeom>
          <a:solidFill>
            <a:srgbClr val="2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2960" y="4014215"/>
            <a:ext cx="1097280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dirty="0">
                <a:solidFill>
                  <a:srgbClr val="FFC89F"/>
                </a:solidFill>
                <a:latin typeface="Arial"/>
              </a:rPr>
              <a:t>PHẠM VI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4407408"/>
            <a:ext cx="466344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 dirty="0">
                <a:solidFill>
                  <a:srgbClr val="FFFFFF"/>
                </a:solidFill>
                <a:latin typeface="Arial"/>
              </a:rPr>
              <a:t>1.767 </a:t>
            </a:r>
            <a:r>
              <a:rPr sz="1300" b="1" i="0" dirty="0" err="1">
                <a:solidFill>
                  <a:srgbClr val="FFFFFF"/>
                </a:solidFill>
                <a:latin typeface="Arial"/>
              </a:rPr>
              <a:t>đầu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Arial"/>
              </a:rPr>
              <a:t>sách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 • 18 </a:t>
            </a:r>
            <a:r>
              <a:rPr sz="1300" b="1" i="0" dirty="0" err="1">
                <a:solidFill>
                  <a:srgbClr val="FFFFFF"/>
                </a:solidFill>
                <a:latin typeface="Arial"/>
              </a:rPr>
              <a:t>trường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Arial"/>
              </a:rPr>
              <a:t>sản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Arial"/>
              </a:rPr>
              <a:t>phẩm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/</a:t>
            </a:r>
            <a:r>
              <a:rPr sz="1300" b="1" i="0" dirty="0" err="1">
                <a:solidFill>
                  <a:srgbClr val="FFFFFF"/>
                </a:solidFill>
                <a:latin typeface="Arial"/>
              </a:rPr>
              <a:t>giá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/</a:t>
            </a:r>
            <a:r>
              <a:rPr sz="1300" b="1" i="0" dirty="0" err="1">
                <a:solidFill>
                  <a:srgbClr val="FFFFFF"/>
                </a:solidFill>
                <a:latin typeface="Arial"/>
              </a:rPr>
              <a:t>bán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Arial"/>
              </a:rPr>
              <a:t>hàng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/</a:t>
            </a:r>
            <a:r>
              <a:rPr sz="1300" b="1" i="0" dirty="0" err="1">
                <a:solidFill>
                  <a:srgbClr val="FFFFFF"/>
                </a:solidFill>
                <a:latin typeface="Arial"/>
              </a:rPr>
              <a:t>đánh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Arial"/>
              </a:rPr>
              <a:t>giá</a:t>
            </a:r>
            <a:endParaRPr sz="13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22960" y="5010912"/>
            <a:ext cx="4663440" cy="1985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 dirty="0" err="1">
                <a:solidFill>
                  <a:srgbClr val="E6E8EF"/>
                </a:solidFill>
                <a:latin typeface="Arial"/>
              </a:rPr>
              <a:t>Không</a:t>
            </a:r>
            <a:r>
              <a:rPr sz="1050" b="0" i="0" dirty="0">
                <a:solidFill>
                  <a:srgbClr val="E6E8EF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E6E8EF"/>
                </a:solidFill>
                <a:latin typeface="Arial"/>
              </a:rPr>
              <a:t>có</a:t>
            </a:r>
            <a:r>
              <a:rPr sz="1050" b="0" i="0" dirty="0">
                <a:solidFill>
                  <a:srgbClr val="E6E8EF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E6E8EF"/>
                </a:solidFill>
                <a:latin typeface="Arial"/>
              </a:rPr>
              <a:t>chuỗi</a:t>
            </a:r>
            <a:r>
              <a:rPr sz="1050" b="0" i="0" dirty="0">
                <a:solidFill>
                  <a:srgbClr val="E6E8EF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E6E8EF"/>
                </a:solidFill>
                <a:latin typeface="Arial"/>
              </a:rPr>
              <a:t>thời</a:t>
            </a:r>
            <a:r>
              <a:rPr sz="1050" b="0" i="0" dirty="0">
                <a:solidFill>
                  <a:srgbClr val="E6E8EF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E6E8EF"/>
                </a:solidFill>
                <a:latin typeface="Arial"/>
              </a:rPr>
              <a:t>gian</a:t>
            </a:r>
            <a:r>
              <a:rPr sz="1050" b="0" i="0" dirty="0">
                <a:solidFill>
                  <a:srgbClr val="E6E8EF"/>
                </a:solidFill>
                <a:latin typeface="Arial"/>
              </a:rPr>
              <a:t>, </a:t>
            </a:r>
            <a:r>
              <a:rPr sz="1050" b="0" i="0" dirty="0" err="1">
                <a:solidFill>
                  <a:srgbClr val="E6E8EF"/>
                </a:solidFill>
                <a:latin typeface="Arial"/>
              </a:rPr>
              <a:t>lợi</a:t>
            </a:r>
            <a:r>
              <a:rPr sz="1050" b="0" i="0" dirty="0">
                <a:solidFill>
                  <a:srgbClr val="E6E8EF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E6E8EF"/>
                </a:solidFill>
                <a:latin typeface="Arial"/>
              </a:rPr>
              <a:t>nhuận</a:t>
            </a:r>
            <a:r>
              <a:rPr sz="1050" b="0" i="0" dirty="0">
                <a:solidFill>
                  <a:srgbClr val="E6E8EF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E6E8EF"/>
                </a:solidFill>
                <a:latin typeface="Arial"/>
              </a:rPr>
              <a:t>gộp</a:t>
            </a:r>
            <a:r>
              <a:rPr sz="1050" b="0" i="0" dirty="0">
                <a:solidFill>
                  <a:srgbClr val="E6E8EF"/>
                </a:solidFill>
                <a:latin typeface="Arial"/>
              </a:rPr>
              <a:t>, </a:t>
            </a:r>
            <a:r>
              <a:rPr sz="1050" b="0" i="0" dirty="0" err="1">
                <a:solidFill>
                  <a:srgbClr val="E6E8EF"/>
                </a:solidFill>
                <a:latin typeface="Arial"/>
              </a:rPr>
              <a:t>tồn</a:t>
            </a:r>
            <a:r>
              <a:rPr sz="1050" b="0" i="0" dirty="0">
                <a:solidFill>
                  <a:srgbClr val="E6E8EF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E6E8EF"/>
                </a:solidFill>
                <a:latin typeface="Arial"/>
              </a:rPr>
              <a:t>kho</a:t>
            </a:r>
            <a:r>
              <a:rPr sz="1050" b="0" i="0" dirty="0">
                <a:solidFill>
                  <a:srgbClr val="E6E8EF"/>
                </a:solidFill>
                <a:latin typeface="Arial"/>
              </a:rPr>
              <a:t> hay </a:t>
            </a:r>
            <a:r>
              <a:rPr sz="1050" b="0" i="0" dirty="0" err="1">
                <a:solidFill>
                  <a:srgbClr val="E6E8EF"/>
                </a:solidFill>
                <a:latin typeface="Arial"/>
              </a:rPr>
              <a:t>lịch</a:t>
            </a:r>
            <a:r>
              <a:rPr sz="1050" b="0" i="0" dirty="0">
                <a:solidFill>
                  <a:srgbClr val="E6E8EF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E6E8EF"/>
                </a:solidFill>
                <a:latin typeface="Arial"/>
              </a:rPr>
              <a:t>sử</a:t>
            </a:r>
            <a:r>
              <a:rPr sz="1050" b="0" i="0" dirty="0">
                <a:solidFill>
                  <a:srgbClr val="E6E8EF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E6E8EF"/>
                </a:solidFill>
                <a:latin typeface="Arial"/>
              </a:rPr>
              <a:t>chiến</a:t>
            </a:r>
            <a:r>
              <a:rPr sz="1050" b="0" i="0" dirty="0">
                <a:solidFill>
                  <a:srgbClr val="E6E8EF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E6E8EF"/>
                </a:solidFill>
                <a:latin typeface="Arial"/>
              </a:rPr>
              <a:t>dịch</a:t>
            </a:r>
            <a:r>
              <a:rPr sz="1050" b="0" i="0" dirty="0">
                <a:solidFill>
                  <a:srgbClr val="E6E8EF"/>
                </a:solidFill>
                <a:latin typeface="Arial"/>
              </a:rPr>
              <a:t>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36208" y="3767328"/>
            <a:ext cx="5394960" cy="2011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0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92240" y="4014215"/>
            <a:ext cx="237744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D96B35"/>
                </a:solidFill>
                <a:latin typeface="Arial"/>
              </a:rPr>
              <a:t>CÂU HỎI KINH DOANH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4407408"/>
            <a:ext cx="4709160" cy="71917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2A3141"/>
                </a:solidFill>
                <a:latin typeface="Arial"/>
              </a:defRPr>
            </a:pPr>
            <a:r>
              <a:rPr sz="1200" dirty="0"/>
              <a:t>•  </a:t>
            </a:r>
            <a:r>
              <a:rPr sz="1200" dirty="0" err="1"/>
              <a:t>Nhóm</a:t>
            </a:r>
            <a:r>
              <a:rPr sz="1200" dirty="0"/>
              <a:t>/category/publisher </a:t>
            </a:r>
            <a:r>
              <a:rPr sz="1200" dirty="0" err="1"/>
              <a:t>nào</a:t>
            </a:r>
            <a:r>
              <a:rPr sz="1200" dirty="0"/>
              <a:t> </a:t>
            </a:r>
            <a:r>
              <a:rPr sz="1200" dirty="0" err="1"/>
              <a:t>đang</a:t>
            </a:r>
            <a:r>
              <a:rPr sz="1200" dirty="0"/>
              <a:t> </a:t>
            </a:r>
            <a:r>
              <a:rPr sz="1200" dirty="0" err="1"/>
              <a:t>đóng</a:t>
            </a:r>
            <a:r>
              <a:rPr sz="1200" dirty="0"/>
              <a:t> </a:t>
            </a:r>
            <a:r>
              <a:rPr sz="1200" dirty="0" err="1"/>
              <a:t>góp</a:t>
            </a:r>
            <a:r>
              <a:rPr sz="1200" dirty="0"/>
              <a:t> </a:t>
            </a:r>
            <a:r>
              <a:rPr sz="1200" dirty="0" err="1"/>
              <a:t>doanh</a:t>
            </a:r>
            <a:r>
              <a:rPr sz="1200" dirty="0"/>
              <a:t> </a:t>
            </a:r>
            <a:r>
              <a:rPr sz="1200" dirty="0" err="1"/>
              <a:t>thu</a:t>
            </a:r>
            <a:r>
              <a:rPr sz="1200" dirty="0"/>
              <a:t>?</a:t>
            </a:r>
          </a:p>
          <a:p>
            <a:pPr>
              <a:spcAft>
                <a:spcPts val="500"/>
              </a:spcAft>
              <a:defRPr sz="1000">
                <a:solidFill>
                  <a:srgbClr val="2A3141"/>
                </a:solidFill>
                <a:latin typeface="Arial"/>
              </a:defRPr>
            </a:pPr>
            <a:r>
              <a:rPr sz="1200" dirty="0"/>
              <a:t>•  </a:t>
            </a:r>
            <a:r>
              <a:rPr sz="1200" dirty="0" err="1"/>
              <a:t>Mức</a:t>
            </a:r>
            <a:r>
              <a:rPr sz="1200" dirty="0"/>
              <a:t> </a:t>
            </a:r>
            <a:r>
              <a:rPr sz="1200" dirty="0" err="1"/>
              <a:t>giá</a:t>
            </a:r>
            <a:r>
              <a:rPr sz="1200" dirty="0"/>
              <a:t> </a:t>
            </a:r>
            <a:r>
              <a:rPr sz="1200" dirty="0" err="1"/>
              <a:t>và</a:t>
            </a:r>
            <a:r>
              <a:rPr sz="1200" dirty="0"/>
              <a:t> review </a:t>
            </a:r>
            <a:r>
              <a:rPr sz="1200" dirty="0" err="1"/>
              <a:t>liên</a:t>
            </a:r>
            <a:r>
              <a:rPr sz="1200" dirty="0"/>
              <a:t> </a:t>
            </a:r>
            <a:r>
              <a:rPr sz="1200" dirty="0" err="1"/>
              <a:t>hệ</a:t>
            </a:r>
            <a:r>
              <a:rPr sz="1200" dirty="0"/>
              <a:t> </a:t>
            </a:r>
            <a:r>
              <a:rPr sz="1200" dirty="0" err="1"/>
              <a:t>với</a:t>
            </a:r>
            <a:r>
              <a:rPr sz="1200" dirty="0"/>
              <a:t> </a:t>
            </a:r>
            <a:r>
              <a:rPr sz="1200" dirty="0" err="1"/>
              <a:t>sức</a:t>
            </a:r>
            <a:r>
              <a:rPr sz="1200" dirty="0"/>
              <a:t> </a:t>
            </a:r>
            <a:r>
              <a:rPr sz="1200" dirty="0" err="1"/>
              <a:t>bán</a:t>
            </a:r>
            <a:r>
              <a:rPr sz="1200" dirty="0"/>
              <a:t> </a:t>
            </a:r>
            <a:r>
              <a:rPr sz="1200" dirty="0" err="1"/>
              <a:t>như</a:t>
            </a:r>
            <a:r>
              <a:rPr sz="1200" dirty="0"/>
              <a:t> </a:t>
            </a:r>
            <a:r>
              <a:rPr sz="1200" dirty="0" err="1"/>
              <a:t>thế</a:t>
            </a:r>
            <a:r>
              <a:rPr sz="1200" dirty="0"/>
              <a:t> </a:t>
            </a:r>
            <a:r>
              <a:rPr sz="1200" dirty="0" err="1"/>
              <a:t>nào</a:t>
            </a:r>
            <a:r>
              <a:rPr sz="1200" dirty="0"/>
              <a:t>?</a:t>
            </a:r>
          </a:p>
          <a:p>
            <a:pPr>
              <a:spcAft>
                <a:spcPts val="500"/>
              </a:spcAft>
              <a:defRPr sz="1000">
                <a:solidFill>
                  <a:srgbClr val="2A3141"/>
                </a:solidFill>
                <a:latin typeface="Arial"/>
              </a:defRPr>
            </a:pPr>
            <a:r>
              <a:rPr sz="1200" dirty="0"/>
              <a:t>•  </a:t>
            </a:r>
            <a:r>
              <a:rPr sz="1200" dirty="0" err="1"/>
              <a:t>Mô</a:t>
            </a:r>
            <a:r>
              <a:rPr sz="1200" dirty="0"/>
              <a:t> </a:t>
            </a:r>
            <a:r>
              <a:rPr sz="1200" dirty="0" err="1"/>
              <a:t>hình</a:t>
            </a:r>
            <a:r>
              <a:rPr sz="1200" dirty="0"/>
              <a:t> </a:t>
            </a:r>
            <a:r>
              <a:rPr sz="1200" dirty="0" err="1"/>
              <a:t>nào</a:t>
            </a:r>
            <a:r>
              <a:rPr sz="1200" dirty="0"/>
              <a:t> </a:t>
            </a:r>
            <a:r>
              <a:rPr sz="1200" dirty="0" err="1"/>
              <a:t>giúp</a:t>
            </a:r>
            <a:r>
              <a:rPr sz="1200" dirty="0"/>
              <a:t> </a:t>
            </a:r>
            <a:r>
              <a:rPr sz="1200" dirty="0" err="1"/>
              <a:t>sàng</a:t>
            </a:r>
            <a:r>
              <a:rPr sz="1200" dirty="0"/>
              <a:t> </a:t>
            </a:r>
            <a:r>
              <a:rPr sz="1200" dirty="0" err="1"/>
              <a:t>lọc</a:t>
            </a:r>
            <a:r>
              <a:rPr sz="1200" dirty="0"/>
              <a:t> </a:t>
            </a:r>
            <a:r>
              <a:rPr sz="1200" dirty="0" err="1"/>
              <a:t>sách</a:t>
            </a:r>
            <a:r>
              <a:rPr sz="1200" dirty="0"/>
              <a:t> </a:t>
            </a:r>
            <a:r>
              <a:rPr sz="1200" dirty="0" err="1"/>
              <a:t>theo</a:t>
            </a:r>
            <a:r>
              <a:rPr sz="1200" dirty="0"/>
              <a:t> </a:t>
            </a:r>
            <a:r>
              <a:rPr sz="1200" dirty="0" err="1"/>
              <a:t>ngưỡng</a:t>
            </a:r>
            <a:r>
              <a:rPr sz="1200" dirty="0"/>
              <a:t> Bestseller?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18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02A44"/>
                </a:solidFill>
                <a:latin typeface="Arial"/>
              </a:rPr>
              <a:t>Hiệu suất kinh doanh tổng quan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8890">
            <a:solidFill>
              <a:srgbClr val="E7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21207" y="6565392"/>
            <a:ext cx="45720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B7280"/>
                </a:solidFill>
                <a:latin typeface="Arial"/>
              </a:rPr>
              <a:t>TADA BOOK ANALYTICS  •  TASK 6–10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56248"/>
            <a:ext cx="8229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B7280"/>
                </a:solidFill>
                <a:latin typeface="Arial"/>
              </a:rPr>
              <a:t>04 /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481328"/>
            <a:ext cx="3538728" cy="10698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0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0352" y="1481328"/>
            <a:ext cx="64008" cy="1069848"/>
          </a:xfrm>
          <a:prstGeom prst="rect">
            <a:avLst/>
          </a:prstGeom>
          <a:solidFill>
            <a:srgbClr val="F18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4944" y="1609344"/>
            <a:ext cx="324612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280"/>
                </a:solidFill>
                <a:latin typeface="Arial"/>
              </a:rPr>
              <a:t>DOANH THU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74520"/>
            <a:ext cx="324612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02A44"/>
                </a:solidFill>
                <a:latin typeface="Arial"/>
              </a:rPr>
              <a:t>$22.89M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2240280"/>
            <a:ext cx="32461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Arial"/>
              </a:rPr>
              <a:t>current_price × quantity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2544" y="1481328"/>
            <a:ext cx="3538728" cy="10698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0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52544" y="1481328"/>
            <a:ext cx="64008" cy="1069848"/>
          </a:xfrm>
          <a:prstGeom prst="rect">
            <a:avLst/>
          </a:prstGeom>
          <a:solidFill>
            <a:srgbClr val="827D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17136" y="1609344"/>
            <a:ext cx="324612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280"/>
                </a:solidFill>
                <a:latin typeface="Arial"/>
              </a:rPr>
              <a:t>SỐ LƯỢNG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1874520"/>
            <a:ext cx="324612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02A44"/>
                </a:solidFill>
                <a:latin typeface="Arial"/>
              </a:rPr>
              <a:t>4.96M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7136" y="2240280"/>
            <a:ext cx="32461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Arial"/>
              </a:rPr>
              <a:t>units sold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74736" y="1481328"/>
            <a:ext cx="3538728" cy="10698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0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74736" y="1481328"/>
            <a:ext cx="64008" cy="1069848"/>
          </a:xfrm>
          <a:prstGeom prst="rect">
            <a:avLst/>
          </a:prstGeom>
          <a:solidFill>
            <a:srgbClr val="278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39327" y="1609344"/>
            <a:ext cx="324612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280"/>
                </a:solidFill>
                <a:latin typeface="Arial"/>
              </a:rPr>
              <a:t>ĐẦU SÁCH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7" y="1874520"/>
            <a:ext cx="324612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02A44"/>
                </a:solidFill>
                <a:latin typeface="Arial"/>
              </a:rPr>
              <a:t>1,767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7" y="2240280"/>
            <a:ext cx="32461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Arial"/>
              </a:rPr>
              <a:t>unique product_id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" y="2807208"/>
            <a:ext cx="3538728" cy="10698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0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30352" y="2807208"/>
            <a:ext cx="64008" cy="1069848"/>
          </a:xfrm>
          <a:prstGeom prst="rect">
            <a:avLst/>
          </a:prstGeom>
          <a:solidFill>
            <a:srgbClr val="C8A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4944" y="2935224"/>
            <a:ext cx="324612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280"/>
                </a:solidFill>
                <a:latin typeface="Arial"/>
              </a:rPr>
              <a:t>DOANH THU / SÁCH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3200400"/>
            <a:ext cx="324612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02A44"/>
                </a:solidFill>
                <a:latin typeface="Arial"/>
              </a:rPr>
              <a:t>$12,952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3566160"/>
            <a:ext cx="32461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Arial"/>
              </a:rPr>
              <a:t>trung bình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52544" y="2807208"/>
            <a:ext cx="3538728" cy="10698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0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352544" y="2807208"/>
            <a:ext cx="64008" cy="1069848"/>
          </a:xfrm>
          <a:prstGeom prst="rect">
            <a:avLst/>
          </a:prstGeom>
          <a:solidFill>
            <a:srgbClr val="F18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17136" y="2935224"/>
            <a:ext cx="324612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280"/>
                </a:solidFill>
                <a:latin typeface="Arial"/>
              </a:rPr>
              <a:t>RATING TB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17136" y="3200400"/>
            <a:ext cx="324612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02A44"/>
                </a:solidFill>
                <a:latin typeface="Arial"/>
              </a:rPr>
              <a:t>4.60/5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17136" y="3566160"/>
            <a:ext cx="32461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Arial"/>
              </a:rPr>
              <a:t>median 4,80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74736" y="2807208"/>
            <a:ext cx="3538728" cy="10698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0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174736" y="2807208"/>
            <a:ext cx="64008" cy="1069848"/>
          </a:xfrm>
          <a:prstGeom prst="rect">
            <a:avLst/>
          </a:prstGeom>
          <a:solidFill>
            <a:srgbClr val="827D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39327" y="2935224"/>
            <a:ext cx="324612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280"/>
                </a:solidFill>
                <a:latin typeface="Arial"/>
              </a:rPr>
              <a:t>DISCOUNT TB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9327" y="3200400"/>
            <a:ext cx="324612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02A44"/>
                </a:solidFill>
                <a:latin typeface="Arial"/>
              </a:rPr>
              <a:t>27.24%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39327" y="3566160"/>
            <a:ext cx="32461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Arial"/>
              </a:rPr>
              <a:t>trung bình danh mục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0352" y="4389120"/>
            <a:ext cx="5806440" cy="14264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0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68096" y="4599432"/>
            <a:ext cx="1920240" cy="1985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dirty="0">
                <a:solidFill>
                  <a:srgbClr val="D96B35"/>
                </a:solidFill>
                <a:latin typeface="Arial"/>
              </a:rPr>
              <a:t>DOANH THU TẬP TRUNG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" y="4892040"/>
            <a:ext cx="516636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202A44"/>
                </a:solidFill>
                <a:latin typeface="Arial"/>
              </a:rPr>
              <a:t>Top 2 </a:t>
            </a:r>
            <a:r>
              <a:rPr sz="1400" b="1" i="0" dirty="0" err="1">
                <a:solidFill>
                  <a:srgbClr val="202A44"/>
                </a:solidFill>
                <a:latin typeface="Arial"/>
              </a:rPr>
              <a:t>nhóm</a:t>
            </a:r>
            <a:r>
              <a:rPr sz="1400" b="1" i="0" dirty="0">
                <a:solidFill>
                  <a:srgbClr val="202A44"/>
                </a:solidFill>
                <a:latin typeface="Arial"/>
              </a:rPr>
              <a:t> category: Others + </a:t>
            </a:r>
            <a:r>
              <a:rPr sz="1400" b="1" i="0" dirty="0" err="1">
                <a:solidFill>
                  <a:srgbClr val="202A44"/>
                </a:solidFill>
                <a:latin typeface="Arial"/>
              </a:rPr>
              <a:t>Sách</a:t>
            </a:r>
            <a:r>
              <a:rPr sz="1400" b="1" i="0" dirty="0">
                <a:solidFill>
                  <a:srgbClr val="202A44"/>
                </a:solidFill>
                <a:latin typeface="Arial"/>
              </a:rPr>
              <a:t> </a:t>
            </a:r>
            <a:r>
              <a:rPr sz="1400" b="1" i="0" dirty="0" err="1">
                <a:solidFill>
                  <a:srgbClr val="202A44"/>
                </a:solidFill>
                <a:latin typeface="Arial"/>
              </a:rPr>
              <a:t>Nghệ</a:t>
            </a:r>
            <a:r>
              <a:rPr sz="1400" b="1" i="0" dirty="0">
                <a:solidFill>
                  <a:srgbClr val="202A44"/>
                </a:solidFill>
                <a:latin typeface="Arial"/>
              </a:rPr>
              <a:t> </a:t>
            </a:r>
            <a:r>
              <a:rPr sz="1400" b="1" i="0" dirty="0" err="1">
                <a:solidFill>
                  <a:srgbClr val="202A44"/>
                </a:solidFill>
                <a:latin typeface="Arial"/>
              </a:rPr>
              <a:t>Thuật</a:t>
            </a:r>
            <a:r>
              <a:rPr sz="1400" b="1" i="0" dirty="0">
                <a:solidFill>
                  <a:srgbClr val="202A44"/>
                </a:solidFill>
                <a:latin typeface="Arial"/>
              </a:rPr>
              <a:t> </a:t>
            </a:r>
            <a:r>
              <a:rPr sz="1400" b="1" i="0" dirty="0" err="1">
                <a:solidFill>
                  <a:srgbClr val="202A44"/>
                </a:solidFill>
                <a:latin typeface="Arial"/>
              </a:rPr>
              <a:t>Sống</a:t>
            </a:r>
            <a:r>
              <a:rPr sz="1400" b="1" i="0" dirty="0">
                <a:solidFill>
                  <a:srgbClr val="202A44"/>
                </a:solidFill>
                <a:latin typeface="Arial"/>
              </a:rPr>
              <a:t> </a:t>
            </a:r>
            <a:r>
              <a:rPr sz="1400" b="1" i="0" dirty="0" err="1">
                <a:solidFill>
                  <a:srgbClr val="202A44"/>
                </a:solidFill>
                <a:latin typeface="Arial"/>
              </a:rPr>
              <a:t>Đẹp</a:t>
            </a:r>
            <a:endParaRPr sz="1400" b="1" i="0" dirty="0">
              <a:solidFill>
                <a:srgbClr val="202A44"/>
              </a:solidFill>
              <a:latin typeface="Arial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68096" y="5285232"/>
            <a:ext cx="5166360" cy="1985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 dirty="0" err="1">
                <a:solidFill>
                  <a:srgbClr val="6B7280"/>
                </a:solidFill>
                <a:latin typeface="Arial"/>
              </a:rPr>
              <a:t>Cần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đọc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thêm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hiệu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quả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/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đầu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sách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và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rà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soát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nhãn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“Others”.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65392" y="4389120"/>
            <a:ext cx="5074920" cy="1426464"/>
          </a:xfrm>
          <a:prstGeom prst="roundRect">
            <a:avLst/>
          </a:prstGeom>
          <a:solidFill>
            <a:srgbClr val="EAE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839712" y="4599432"/>
            <a:ext cx="434340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dirty="0">
                <a:solidFill>
                  <a:srgbClr val="504C91"/>
                </a:solidFill>
                <a:latin typeface="Arial"/>
              </a:rPr>
              <a:t>SẢN LƯỢNG LỆCH PHẢI RẤT MẠNH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39712" y="4901184"/>
            <a:ext cx="41148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02A44"/>
                </a:solidFill>
                <a:latin typeface="Arial"/>
              </a:rPr>
              <a:t>Median quantity = 608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39712" y="5303520"/>
            <a:ext cx="4251960" cy="1985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 dirty="0">
                <a:solidFill>
                  <a:srgbClr val="2A3141"/>
                </a:solidFill>
                <a:latin typeface="Arial"/>
              </a:rPr>
              <a:t>Trong </a:t>
            </a:r>
            <a:r>
              <a:rPr sz="1050" b="0" i="0" dirty="0" err="1">
                <a:solidFill>
                  <a:srgbClr val="2A3141"/>
                </a:solidFill>
                <a:latin typeface="Arial"/>
              </a:rPr>
              <a:t>khi</a:t>
            </a:r>
            <a:r>
              <a:rPr sz="1050" b="0" i="0" dirty="0">
                <a:solidFill>
                  <a:srgbClr val="2A3141"/>
                </a:solidFill>
                <a:latin typeface="Arial"/>
              </a:rPr>
              <a:t> max </a:t>
            </a:r>
            <a:r>
              <a:rPr sz="1050" b="0" i="0" dirty="0" err="1">
                <a:solidFill>
                  <a:srgbClr val="2A3141"/>
                </a:solidFill>
                <a:latin typeface="Arial"/>
              </a:rPr>
              <a:t>đạt</a:t>
            </a:r>
            <a:r>
              <a:rPr sz="1050" b="0" i="0" dirty="0">
                <a:solidFill>
                  <a:srgbClr val="2A3141"/>
                </a:solidFill>
                <a:latin typeface="Arial"/>
              </a:rPr>
              <a:t> 671.121 </a:t>
            </a:r>
            <a:r>
              <a:rPr sz="1050" b="0" i="0" dirty="0" err="1">
                <a:solidFill>
                  <a:srgbClr val="2A3141"/>
                </a:solidFill>
                <a:latin typeface="Arial"/>
              </a:rPr>
              <a:t>cuốn</a:t>
            </a:r>
            <a:r>
              <a:rPr sz="1050" b="0" i="0" dirty="0">
                <a:solidFill>
                  <a:srgbClr val="2A3141"/>
                </a:solidFill>
                <a:latin typeface="Arial"/>
              </a:rPr>
              <a:t> — </a:t>
            </a:r>
            <a:r>
              <a:rPr sz="1050" b="0" i="0" dirty="0" err="1">
                <a:solidFill>
                  <a:srgbClr val="2A3141"/>
                </a:solidFill>
                <a:latin typeface="Arial"/>
              </a:rPr>
              <a:t>vài</a:t>
            </a:r>
            <a:r>
              <a:rPr sz="1050" b="0" i="0" dirty="0">
                <a:solidFill>
                  <a:srgbClr val="2A314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2A3141"/>
                </a:solidFill>
                <a:latin typeface="Arial"/>
              </a:rPr>
              <a:t>đầu</a:t>
            </a:r>
            <a:r>
              <a:rPr sz="1050" b="0" i="0" dirty="0">
                <a:solidFill>
                  <a:srgbClr val="2A314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2A3141"/>
                </a:solidFill>
                <a:latin typeface="Arial"/>
              </a:rPr>
              <a:t>sách</a:t>
            </a:r>
            <a:r>
              <a:rPr sz="1050" b="0" i="0" dirty="0">
                <a:solidFill>
                  <a:srgbClr val="2A314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2A3141"/>
                </a:solidFill>
                <a:latin typeface="Arial"/>
              </a:rPr>
              <a:t>có</a:t>
            </a:r>
            <a:r>
              <a:rPr sz="1050" b="0" i="0" dirty="0">
                <a:solidFill>
                  <a:srgbClr val="2A314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2A3141"/>
                </a:solidFill>
                <a:latin typeface="Arial"/>
              </a:rPr>
              <a:t>quy</a:t>
            </a:r>
            <a:r>
              <a:rPr sz="1050" b="0" i="0" dirty="0">
                <a:solidFill>
                  <a:srgbClr val="2A314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2A3141"/>
                </a:solidFill>
                <a:latin typeface="Arial"/>
              </a:rPr>
              <a:t>mô</a:t>
            </a:r>
            <a:r>
              <a:rPr sz="1050" b="0" i="0" dirty="0">
                <a:solidFill>
                  <a:srgbClr val="2A314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2A3141"/>
                </a:solidFill>
                <a:latin typeface="Arial"/>
              </a:rPr>
              <a:t>vượt</a:t>
            </a:r>
            <a:r>
              <a:rPr sz="1050" b="0" i="0" dirty="0">
                <a:solidFill>
                  <a:srgbClr val="2A314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2A3141"/>
                </a:solidFill>
                <a:latin typeface="Arial"/>
              </a:rPr>
              <a:t>trội</a:t>
            </a:r>
            <a:r>
              <a:rPr sz="1050" b="0" i="0" dirty="0">
                <a:solidFill>
                  <a:srgbClr val="2A3141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18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02A44"/>
                </a:solidFill>
                <a:latin typeface="Arial"/>
              </a:rPr>
              <a:t>Ngành hàng: quy mô lớn chưa chắc là hiệu quả cao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05840"/>
            <a:ext cx="1106424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Arial"/>
              </a:rPr>
              <a:t>Đọc song song tổng doanh thu, số đầu sách và doanh thu trên mỗi đầu sách để tránh bias do quy mô danh mục.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8890">
            <a:solidFill>
              <a:srgbClr val="E7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21207" y="6565392"/>
            <a:ext cx="45720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B7280"/>
                </a:solidFill>
                <a:latin typeface="Arial"/>
              </a:rPr>
              <a:t>TADA BOOK ANALYTICS  •  TASK 6–10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56248"/>
            <a:ext cx="8229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B7280"/>
                </a:solidFill>
                <a:latin typeface="Arial"/>
              </a:rPr>
              <a:t>05 / 18</a:t>
            </a:r>
          </a:p>
        </p:txBody>
      </p:sp>
      <p:pic>
        <p:nvPicPr>
          <p:cNvPr id="9" name="Picture 8" descr="category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5760720" cy="43434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355080" y="5116068"/>
            <a:ext cx="5239512" cy="612648"/>
          </a:xfrm>
          <a:prstGeom prst="roundRect">
            <a:avLst/>
          </a:prstGeom>
          <a:solidFill>
            <a:srgbClr val="F7E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0528" y="5234940"/>
            <a:ext cx="658368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dirty="0">
                <a:solidFill>
                  <a:srgbClr val="D96B35"/>
                </a:solidFill>
                <a:latin typeface="Arial"/>
              </a:rPr>
              <a:t>INSIGHT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5323134"/>
            <a:ext cx="4114800" cy="1985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dirty="0" err="1">
                <a:solidFill>
                  <a:srgbClr val="202A44"/>
                </a:solidFill>
                <a:latin typeface="Arial"/>
              </a:rPr>
              <a:t>Sách</a:t>
            </a:r>
            <a:r>
              <a:rPr sz="1050" b="1" i="0" dirty="0">
                <a:solidFill>
                  <a:srgbClr val="202A44"/>
                </a:solidFill>
                <a:latin typeface="Arial"/>
              </a:rPr>
              <a:t> </a:t>
            </a:r>
            <a:r>
              <a:rPr sz="1050" b="1" i="0" dirty="0" err="1">
                <a:solidFill>
                  <a:srgbClr val="202A44"/>
                </a:solidFill>
                <a:latin typeface="Arial"/>
              </a:rPr>
              <a:t>Nghệ</a:t>
            </a:r>
            <a:r>
              <a:rPr sz="1050" b="1" i="0" dirty="0">
                <a:solidFill>
                  <a:srgbClr val="202A44"/>
                </a:solidFill>
                <a:latin typeface="Arial"/>
              </a:rPr>
              <a:t> </a:t>
            </a:r>
            <a:r>
              <a:rPr sz="1050" b="1" i="0" dirty="0" err="1">
                <a:solidFill>
                  <a:srgbClr val="202A44"/>
                </a:solidFill>
                <a:latin typeface="Arial"/>
              </a:rPr>
              <a:t>Thuật</a:t>
            </a:r>
            <a:r>
              <a:rPr sz="1050" b="1" i="0" dirty="0">
                <a:solidFill>
                  <a:srgbClr val="202A44"/>
                </a:solidFill>
                <a:latin typeface="Arial"/>
              </a:rPr>
              <a:t> </a:t>
            </a:r>
            <a:r>
              <a:rPr sz="1050" b="1" i="0" dirty="0" err="1">
                <a:solidFill>
                  <a:srgbClr val="202A44"/>
                </a:solidFill>
                <a:latin typeface="Arial"/>
              </a:rPr>
              <a:t>Sống</a:t>
            </a:r>
            <a:r>
              <a:rPr sz="1050" b="1" i="0" dirty="0">
                <a:solidFill>
                  <a:srgbClr val="202A44"/>
                </a:solidFill>
                <a:latin typeface="Arial"/>
              </a:rPr>
              <a:t> </a:t>
            </a:r>
            <a:r>
              <a:rPr sz="1050" b="1" i="0" dirty="0" err="1">
                <a:solidFill>
                  <a:srgbClr val="202A44"/>
                </a:solidFill>
                <a:latin typeface="Arial"/>
              </a:rPr>
              <a:t>Đẹp</a:t>
            </a:r>
            <a:r>
              <a:rPr sz="1050" b="1" i="0" dirty="0">
                <a:solidFill>
                  <a:srgbClr val="202A44"/>
                </a:solidFill>
                <a:latin typeface="Arial"/>
              </a:rPr>
              <a:t>: 58 </a:t>
            </a:r>
            <a:r>
              <a:rPr sz="1050" b="1" i="0" dirty="0" err="1">
                <a:solidFill>
                  <a:srgbClr val="202A44"/>
                </a:solidFill>
                <a:latin typeface="Arial"/>
              </a:rPr>
              <a:t>sách</a:t>
            </a:r>
            <a:r>
              <a:rPr sz="1050" b="1" i="0" dirty="0">
                <a:solidFill>
                  <a:srgbClr val="202A44"/>
                </a:solidFill>
                <a:latin typeface="Arial"/>
              </a:rPr>
              <a:t> • $3.55M • $61.2K/</a:t>
            </a:r>
            <a:r>
              <a:rPr sz="1050" b="1" i="0" dirty="0" err="1">
                <a:solidFill>
                  <a:srgbClr val="202A44"/>
                </a:solidFill>
                <a:latin typeface="Arial"/>
              </a:rPr>
              <a:t>sách</a:t>
            </a:r>
            <a:endParaRPr sz="1050" b="1" i="0" dirty="0">
              <a:solidFill>
                <a:srgbClr val="202A44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21207" y="6074268"/>
            <a:ext cx="1097280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6B7280"/>
                </a:solidFill>
                <a:latin typeface="Arial"/>
              </a:rPr>
              <a:t>“Others” </a:t>
            </a:r>
            <a:r>
              <a:rPr sz="1100" b="0" i="0" dirty="0" err="1">
                <a:solidFill>
                  <a:srgbClr val="6B7280"/>
                </a:solidFill>
                <a:latin typeface="Arial"/>
              </a:rPr>
              <a:t>tạo</a:t>
            </a:r>
            <a:r>
              <a:rPr sz="1100" b="0" i="0" dirty="0">
                <a:solidFill>
                  <a:srgbClr val="6B7280"/>
                </a:solidFill>
                <a:latin typeface="Arial"/>
              </a:rPr>
              <a:t> $6.86M (30,0%) </a:t>
            </a:r>
            <a:r>
              <a:rPr sz="1100" b="0" i="0" dirty="0" err="1">
                <a:solidFill>
                  <a:srgbClr val="6B7280"/>
                </a:solidFill>
                <a:latin typeface="Arial"/>
              </a:rPr>
              <a:t>nhưng</a:t>
            </a:r>
            <a:r>
              <a:rPr sz="11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Arial"/>
              </a:rPr>
              <a:t>có</a:t>
            </a:r>
            <a:r>
              <a:rPr sz="1100" b="0" i="0" dirty="0">
                <a:solidFill>
                  <a:srgbClr val="6B7280"/>
                </a:solidFill>
                <a:latin typeface="Arial"/>
              </a:rPr>
              <a:t> 766 </a:t>
            </a:r>
            <a:r>
              <a:rPr sz="1100" b="0" i="0" dirty="0" err="1">
                <a:solidFill>
                  <a:srgbClr val="6B7280"/>
                </a:solidFill>
                <a:latin typeface="Arial"/>
              </a:rPr>
              <a:t>đầu</a:t>
            </a:r>
            <a:r>
              <a:rPr sz="11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Arial"/>
              </a:rPr>
              <a:t>sách</a:t>
            </a:r>
            <a:r>
              <a:rPr sz="1100" b="0" i="0" dirty="0">
                <a:solidFill>
                  <a:srgbClr val="6B7280"/>
                </a:solidFill>
                <a:latin typeface="Arial"/>
              </a:rPr>
              <a:t>; </a:t>
            </a:r>
            <a:r>
              <a:rPr sz="1100" b="0" i="0" dirty="0" err="1">
                <a:solidFill>
                  <a:srgbClr val="6B7280"/>
                </a:solidFill>
                <a:latin typeface="Arial"/>
              </a:rPr>
              <a:t>cần</a:t>
            </a:r>
            <a:r>
              <a:rPr sz="11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Arial"/>
              </a:rPr>
              <a:t>phân</a:t>
            </a:r>
            <a:r>
              <a:rPr sz="11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Arial"/>
              </a:rPr>
              <a:t>loại</a:t>
            </a:r>
            <a:r>
              <a:rPr sz="11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Arial"/>
              </a:rPr>
              <a:t>lại</a:t>
            </a:r>
            <a:r>
              <a:rPr sz="11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Arial"/>
              </a:rPr>
              <a:t>để</a:t>
            </a:r>
            <a:r>
              <a:rPr sz="11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Arial"/>
              </a:rPr>
              <a:t>rút</a:t>
            </a:r>
            <a:r>
              <a:rPr sz="11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Arial"/>
              </a:rPr>
              <a:t>ra</a:t>
            </a:r>
            <a:r>
              <a:rPr sz="11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Arial"/>
              </a:rPr>
              <a:t>hành</a:t>
            </a:r>
            <a:r>
              <a:rPr sz="11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Arial"/>
              </a:rPr>
              <a:t>động</a:t>
            </a:r>
            <a:r>
              <a:rPr sz="11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Arial"/>
              </a:rPr>
              <a:t>cụ</a:t>
            </a:r>
            <a:r>
              <a:rPr sz="11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Arial"/>
              </a:rPr>
              <a:t>thể</a:t>
            </a:r>
            <a:r>
              <a:rPr sz="1100" b="0" i="0" dirty="0">
                <a:solidFill>
                  <a:srgbClr val="6B7280"/>
                </a:solidFill>
                <a:latin typeface="Arial"/>
              </a:rPr>
              <a:t>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8388A7F-80D2-D06D-CCE1-28E7F3010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0062" y="1417320"/>
            <a:ext cx="5234530" cy="34994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18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 dirty="0" err="1">
                <a:solidFill>
                  <a:srgbClr val="202A44"/>
                </a:solidFill>
                <a:latin typeface="Arial"/>
              </a:rPr>
              <a:t>Nhà</a:t>
            </a:r>
            <a:r>
              <a:rPr sz="2500" b="1" i="0" dirty="0">
                <a:solidFill>
                  <a:srgbClr val="202A44"/>
                </a:solidFill>
                <a:latin typeface="Arial"/>
              </a:rPr>
              <a:t> </a:t>
            </a:r>
            <a:r>
              <a:rPr sz="2500" b="1" i="0" dirty="0" err="1">
                <a:solidFill>
                  <a:srgbClr val="202A44"/>
                </a:solidFill>
                <a:latin typeface="Arial"/>
              </a:rPr>
              <a:t>xuất</a:t>
            </a:r>
            <a:r>
              <a:rPr sz="2500" b="1" i="0" dirty="0">
                <a:solidFill>
                  <a:srgbClr val="202A44"/>
                </a:solidFill>
                <a:latin typeface="Arial"/>
              </a:rPr>
              <a:t> </a:t>
            </a:r>
            <a:r>
              <a:rPr sz="2500" b="1" i="0" dirty="0" err="1">
                <a:solidFill>
                  <a:srgbClr val="202A44"/>
                </a:solidFill>
                <a:latin typeface="Arial"/>
              </a:rPr>
              <a:t>bản</a:t>
            </a:r>
            <a:r>
              <a:rPr sz="2500" b="1" i="0" dirty="0">
                <a:solidFill>
                  <a:srgbClr val="202A44"/>
                </a:solidFill>
                <a:latin typeface="Arial"/>
              </a:rPr>
              <a:t>: </a:t>
            </a:r>
            <a:r>
              <a:rPr sz="2500" b="1" i="0" dirty="0" err="1">
                <a:solidFill>
                  <a:srgbClr val="202A44"/>
                </a:solidFill>
                <a:latin typeface="Arial"/>
              </a:rPr>
              <a:t>xác</a:t>
            </a:r>
            <a:r>
              <a:rPr sz="2500" b="1" i="0" dirty="0">
                <a:solidFill>
                  <a:srgbClr val="202A44"/>
                </a:solidFill>
                <a:latin typeface="Arial"/>
              </a:rPr>
              <a:t> </a:t>
            </a:r>
            <a:r>
              <a:rPr sz="2500" b="1" i="0" dirty="0" err="1">
                <a:solidFill>
                  <a:srgbClr val="202A44"/>
                </a:solidFill>
                <a:latin typeface="Arial"/>
              </a:rPr>
              <a:t>thực</a:t>
            </a:r>
            <a:r>
              <a:rPr sz="2500" b="1" i="0" dirty="0">
                <a:solidFill>
                  <a:srgbClr val="202A44"/>
                </a:solidFill>
                <a:latin typeface="Arial"/>
              </a:rPr>
              <a:t> </a:t>
            </a:r>
            <a:r>
              <a:rPr sz="2500" b="1" i="0" dirty="0" err="1">
                <a:solidFill>
                  <a:srgbClr val="202A44"/>
                </a:solidFill>
                <a:latin typeface="Arial"/>
              </a:rPr>
              <a:t>dữ</a:t>
            </a:r>
            <a:r>
              <a:rPr sz="2500" b="1" i="0" dirty="0">
                <a:solidFill>
                  <a:srgbClr val="202A44"/>
                </a:solidFill>
                <a:latin typeface="Arial"/>
              </a:rPr>
              <a:t> </a:t>
            </a:r>
            <a:r>
              <a:rPr sz="2500" b="1" i="0" dirty="0" err="1">
                <a:solidFill>
                  <a:srgbClr val="202A44"/>
                </a:solidFill>
                <a:latin typeface="Arial"/>
              </a:rPr>
              <a:t>liệu</a:t>
            </a:r>
            <a:r>
              <a:rPr sz="2500" b="1" i="0" dirty="0">
                <a:solidFill>
                  <a:srgbClr val="202A44"/>
                </a:solidFill>
                <a:latin typeface="Arial"/>
              </a:rPr>
              <a:t> </a:t>
            </a:r>
            <a:r>
              <a:rPr sz="2500" b="1" i="0" dirty="0" err="1">
                <a:solidFill>
                  <a:srgbClr val="202A44"/>
                </a:solidFill>
                <a:latin typeface="Arial"/>
              </a:rPr>
              <a:t>trước</a:t>
            </a:r>
            <a:r>
              <a:rPr sz="2500" b="1" i="0" dirty="0">
                <a:solidFill>
                  <a:srgbClr val="202A44"/>
                </a:solidFill>
                <a:latin typeface="Arial"/>
              </a:rPr>
              <a:t> </a:t>
            </a:r>
            <a:r>
              <a:rPr sz="2500" b="1" i="0" dirty="0" err="1">
                <a:solidFill>
                  <a:srgbClr val="202A44"/>
                </a:solidFill>
                <a:latin typeface="Arial"/>
              </a:rPr>
              <a:t>khi</a:t>
            </a:r>
            <a:r>
              <a:rPr sz="2500" b="1" i="0" dirty="0">
                <a:solidFill>
                  <a:srgbClr val="202A44"/>
                </a:solidFill>
                <a:latin typeface="Arial"/>
              </a:rPr>
              <a:t> </a:t>
            </a:r>
            <a:r>
              <a:rPr sz="2500" b="1" i="0" dirty="0" err="1">
                <a:solidFill>
                  <a:srgbClr val="202A44"/>
                </a:solidFill>
                <a:latin typeface="Arial"/>
              </a:rPr>
              <a:t>phân</a:t>
            </a:r>
            <a:r>
              <a:rPr sz="2500" b="1" i="0" dirty="0">
                <a:solidFill>
                  <a:srgbClr val="202A44"/>
                </a:solidFill>
                <a:latin typeface="Arial"/>
              </a:rPr>
              <a:t> </a:t>
            </a:r>
            <a:r>
              <a:rPr sz="2500" b="1" i="0" dirty="0" err="1">
                <a:solidFill>
                  <a:srgbClr val="202A44"/>
                </a:solidFill>
                <a:latin typeface="Arial"/>
              </a:rPr>
              <a:t>bổ</a:t>
            </a:r>
            <a:r>
              <a:rPr sz="2500" b="1" i="0" dirty="0">
                <a:solidFill>
                  <a:srgbClr val="202A44"/>
                </a:solidFill>
                <a:latin typeface="Arial"/>
              </a:rPr>
              <a:t> </a:t>
            </a:r>
            <a:r>
              <a:rPr sz="2500" b="1" i="0" dirty="0" err="1">
                <a:solidFill>
                  <a:srgbClr val="202A44"/>
                </a:solidFill>
                <a:latin typeface="Arial"/>
              </a:rPr>
              <a:t>nguồn</a:t>
            </a:r>
            <a:r>
              <a:rPr sz="2500" b="1" i="0" dirty="0">
                <a:solidFill>
                  <a:srgbClr val="202A44"/>
                </a:solidFill>
                <a:latin typeface="Arial"/>
              </a:rPr>
              <a:t> </a:t>
            </a:r>
            <a:r>
              <a:rPr sz="2500" b="1" i="0" dirty="0" err="1">
                <a:solidFill>
                  <a:srgbClr val="202A44"/>
                </a:solidFill>
                <a:latin typeface="Arial"/>
              </a:rPr>
              <a:t>lực</a:t>
            </a:r>
            <a:endParaRPr sz="2500" b="1" i="0" dirty="0">
              <a:solidFill>
                <a:srgbClr val="202A44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21207" y="1005840"/>
            <a:ext cx="1106424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dirty="0" err="1">
                <a:solidFill>
                  <a:srgbClr val="6B7280"/>
                </a:solidFill>
                <a:latin typeface="Arial"/>
              </a:rPr>
              <a:t>Tổng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doanh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thu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theo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manufacturer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trên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toàn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dataset;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số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lượng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đầu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sách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cho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thấy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các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nhóm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không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đồng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nhất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về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quy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mô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8890">
            <a:solidFill>
              <a:srgbClr val="E7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21207" y="6565392"/>
            <a:ext cx="45720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 dirty="0">
                <a:solidFill>
                  <a:srgbClr val="6B7280"/>
                </a:solidFill>
                <a:latin typeface="Arial"/>
              </a:rPr>
              <a:t>TADA BOOK ANALYTICS  •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56248"/>
            <a:ext cx="8229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B7280"/>
                </a:solidFill>
                <a:latin typeface="Arial"/>
              </a:rPr>
              <a:t>06 / 18</a:t>
            </a:r>
          </a:p>
        </p:txBody>
      </p:sp>
      <p:pic>
        <p:nvPicPr>
          <p:cNvPr id="9" name="Picture 8" descr="manufacturer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417320"/>
            <a:ext cx="5687568" cy="41605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00800" y="1481328"/>
            <a:ext cx="5193792" cy="1078992"/>
          </a:xfrm>
          <a:prstGeom prst="roundRect">
            <a:avLst/>
          </a:prstGeom>
          <a:solidFill>
            <a:srgbClr val="F7E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0256" y="1682496"/>
            <a:ext cx="448056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dirty="0">
                <a:solidFill>
                  <a:srgbClr val="D96B35"/>
                </a:solidFill>
                <a:latin typeface="Arial"/>
              </a:rPr>
              <a:t>#1 THEO DOANH THU: “UNKNOWN”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0256" y="1993392"/>
            <a:ext cx="420624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02A44"/>
                </a:solidFill>
                <a:latin typeface="Arial"/>
              </a:rPr>
              <a:t>$6.38M • 265 đầu sách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0256" y="2304288"/>
            <a:ext cx="4480560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dirty="0" err="1">
                <a:solidFill>
                  <a:srgbClr val="6B7280"/>
                </a:solidFill>
                <a:latin typeface="Arial"/>
              </a:rPr>
              <a:t>Đây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là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nhóm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thiếu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thông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 tin NXB,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không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phải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một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 publisher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thực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sự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779776"/>
            <a:ext cx="5193792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0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0256" y="2971800"/>
            <a:ext cx="438912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dirty="0">
                <a:solidFill>
                  <a:srgbClr val="504C91"/>
                </a:solidFill>
                <a:latin typeface="Arial"/>
              </a:rPr>
              <a:t>NHÀ XUẤT BẢN THẾ GIỚI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0256" y="3282696"/>
            <a:ext cx="420624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02A44"/>
                </a:solidFill>
                <a:latin typeface="Arial"/>
              </a:rPr>
              <a:t>$4.60M • 247 đầu sách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078224"/>
            <a:ext cx="5193792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0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0256" y="4270248"/>
            <a:ext cx="438912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dirty="0">
                <a:solidFill>
                  <a:srgbClr val="278A79"/>
                </a:solidFill>
                <a:latin typeface="Arial"/>
              </a:rPr>
              <a:t>VĂN HÓA – VĂN NGHỆ TP.HCM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0256" y="4581144"/>
            <a:ext cx="420624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 dirty="0">
                <a:solidFill>
                  <a:srgbClr val="202A44"/>
                </a:solidFill>
                <a:latin typeface="Arial"/>
              </a:rPr>
              <a:t>$3.15M • </a:t>
            </a:r>
            <a:r>
              <a:rPr sz="1700" b="1" i="0" dirty="0" err="1">
                <a:solidFill>
                  <a:srgbClr val="202A44"/>
                </a:solidFill>
                <a:latin typeface="Arial"/>
              </a:rPr>
              <a:t>chỉ</a:t>
            </a:r>
            <a:r>
              <a:rPr sz="1700" b="1" i="0" dirty="0">
                <a:solidFill>
                  <a:srgbClr val="202A44"/>
                </a:solidFill>
                <a:latin typeface="Arial"/>
              </a:rPr>
              <a:t> 3 </a:t>
            </a:r>
            <a:r>
              <a:rPr sz="1700" b="1" i="0" dirty="0" err="1">
                <a:solidFill>
                  <a:srgbClr val="202A44"/>
                </a:solidFill>
                <a:latin typeface="Arial"/>
              </a:rPr>
              <a:t>đầu</a:t>
            </a:r>
            <a:r>
              <a:rPr sz="1700" b="1" i="0" dirty="0">
                <a:solidFill>
                  <a:srgbClr val="202A44"/>
                </a:solidFill>
                <a:latin typeface="Arial"/>
              </a:rPr>
              <a:t> </a:t>
            </a:r>
            <a:r>
              <a:rPr sz="1700" b="1" i="0" dirty="0" err="1">
                <a:solidFill>
                  <a:srgbClr val="202A44"/>
                </a:solidFill>
                <a:latin typeface="Arial"/>
              </a:rPr>
              <a:t>sách</a:t>
            </a:r>
            <a:endParaRPr sz="1700" b="1" i="0" dirty="0">
              <a:solidFill>
                <a:srgbClr val="202A44"/>
              </a:solidFill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94360" y="5632704"/>
            <a:ext cx="10972800" cy="484632"/>
          </a:xfrm>
          <a:prstGeom prst="roundRect">
            <a:avLst/>
          </a:prstGeom>
          <a:solidFill>
            <a:srgbClr val="EAE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" y="5769864"/>
            <a:ext cx="10561320" cy="1985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dirty="0">
                <a:solidFill>
                  <a:srgbClr val="504C91"/>
                </a:solidFill>
                <a:latin typeface="Arial"/>
              </a:rPr>
              <a:t>HÀNH ĐỘNG: </a:t>
            </a:r>
            <a:r>
              <a:rPr sz="1050" b="1" i="0" dirty="0" err="1">
                <a:solidFill>
                  <a:srgbClr val="504C91"/>
                </a:solidFill>
                <a:latin typeface="Arial"/>
              </a:rPr>
              <a:t>chuẩn</a:t>
            </a:r>
            <a:r>
              <a:rPr sz="1050" b="1" i="0" dirty="0">
                <a:solidFill>
                  <a:srgbClr val="504C91"/>
                </a:solidFill>
                <a:latin typeface="Arial"/>
              </a:rPr>
              <a:t> </a:t>
            </a:r>
            <a:r>
              <a:rPr sz="1050" b="1" i="0" dirty="0" err="1">
                <a:solidFill>
                  <a:srgbClr val="504C91"/>
                </a:solidFill>
                <a:latin typeface="Arial"/>
              </a:rPr>
              <a:t>hóa</a:t>
            </a:r>
            <a:r>
              <a:rPr sz="1050" b="1" i="0" dirty="0">
                <a:solidFill>
                  <a:srgbClr val="504C91"/>
                </a:solidFill>
                <a:latin typeface="Arial"/>
              </a:rPr>
              <a:t> 265 </a:t>
            </a:r>
            <a:r>
              <a:rPr sz="1050" b="1" i="0" dirty="0" err="1">
                <a:solidFill>
                  <a:srgbClr val="504C91"/>
                </a:solidFill>
                <a:latin typeface="Arial"/>
              </a:rPr>
              <a:t>bản</a:t>
            </a:r>
            <a:r>
              <a:rPr sz="1050" b="1" i="0" dirty="0">
                <a:solidFill>
                  <a:srgbClr val="504C91"/>
                </a:solidFill>
                <a:latin typeface="Arial"/>
              </a:rPr>
              <a:t> </a:t>
            </a:r>
            <a:r>
              <a:rPr sz="1050" b="1" i="0" dirty="0" err="1">
                <a:solidFill>
                  <a:srgbClr val="504C91"/>
                </a:solidFill>
                <a:latin typeface="Arial"/>
              </a:rPr>
              <a:t>ghi</a:t>
            </a:r>
            <a:r>
              <a:rPr sz="1050" b="1" i="0" dirty="0">
                <a:solidFill>
                  <a:srgbClr val="504C91"/>
                </a:solidFill>
                <a:latin typeface="Arial"/>
              </a:rPr>
              <a:t> Unknown </a:t>
            </a:r>
            <a:r>
              <a:rPr sz="1050" b="1" i="0" dirty="0" err="1">
                <a:solidFill>
                  <a:srgbClr val="504C91"/>
                </a:solidFill>
                <a:latin typeface="Arial"/>
              </a:rPr>
              <a:t>và</a:t>
            </a:r>
            <a:r>
              <a:rPr sz="1050" b="1" i="0" dirty="0">
                <a:solidFill>
                  <a:srgbClr val="504C91"/>
                </a:solidFill>
                <a:latin typeface="Arial"/>
              </a:rPr>
              <a:t> </a:t>
            </a:r>
            <a:r>
              <a:rPr sz="1050" b="1" i="0" dirty="0" err="1">
                <a:solidFill>
                  <a:srgbClr val="504C91"/>
                </a:solidFill>
                <a:latin typeface="Arial"/>
              </a:rPr>
              <a:t>kiểm</a:t>
            </a:r>
            <a:r>
              <a:rPr sz="1050" b="1" i="0" dirty="0">
                <a:solidFill>
                  <a:srgbClr val="504C91"/>
                </a:solidFill>
                <a:latin typeface="Arial"/>
              </a:rPr>
              <a:t> </a:t>
            </a:r>
            <a:r>
              <a:rPr sz="1050" b="1" i="0" dirty="0" err="1">
                <a:solidFill>
                  <a:srgbClr val="504C91"/>
                </a:solidFill>
                <a:latin typeface="Arial"/>
              </a:rPr>
              <a:t>tra</a:t>
            </a:r>
            <a:r>
              <a:rPr sz="1050" b="1" i="0" dirty="0">
                <a:solidFill>
                  <a:srgbClr val="504C91"/>
                </a:solidFill>
                <a:latin typeface="Arial"/>
              </a:rPr>
              <a:t> outlier/</a:t>
            </a:r>
            <a:r>
              <a:rPr sz="1050" b="1" i="0" dirty="0" err="1">
                <a:solidFill>
                  <a:srgbClr val="504C91"/>
                </a:solidFill>
                <a:latin typeface="Arial"/>
              </a:rPr>
              <a:t>độ</a:t>
            </a:r>
            <a:r>
              <a:rPr sz="1050" b="1" i="0" dirty="0">
                <a:solidFill>
                  <a:srgbClr val="504C91"/>
                </a:solidFill>
                <a:latin typeface="Arial"/>
              </a:rPr>
              <a:t> </a:t>
            </a:r>
            <a:r>
              <a:rPr sz="1050" b="1" i="0" dirty="0" err="1">
                <a:solidFill>
                  <a:srgbClr val="504C91"/>
                </a:solidFill>
                <a:latin typeface="Arial"/>
              </a:rPr>
              <a:t>đại</a:t>
            </a:r>
            <a:r>
              <a:rPr sz="1050" b="1" i="0" dirty="0">
                <a:solidFill>
                  <a:srgbClr val="504C91"/>
                </a:solidFill>
                <a:latin typeface="Arial"/>
              </a:rPr>
              <a:t> </a:t>
            </a:r>
            <a:r>
              <a:rPr sz="1050" b="1" i="0" dirty="0" err="1">
                <a:solidFill>
                  <a:srgbClr val="504C91"/>
                </a:solidFill>
                <a:latin typeface="Arial"/>
              </a:rPr>
              <a:t>diện</a:t>
            </a:r>
            <a:r>
              <a:rPr sz="1050" b="1" i="0" dirty="0">
                <a:solidFill>
                  <a:srgbClr val="504C91"/>
                </a:solidFill>
                <a:latin typeface="Arial"/>
              </a:rPr>
              <a:t> </a:t>
            </a:r>
            <a:r>
              <a:rPr sz="1050" b="1" i="0" dirty="0" err="1">
                <a:solidFill>
                  <a:srgbClr val="504C91"/>
                </a:solidFill>
                <a:latin typeface="Arial"/>
              </a:rPr>
              <a:t>trước</a:t>
            </a:r>
            <a:r>
              <a:rPr sz="1050" b="1" i="0" dirty="0">
                <a:solidFill>
                  <a:srgbClr val="504C91"/>
                </a:solidFill>
                <a:latin typeface="Arial"/>
              </a:rPr>
              <a:t> </a:t>
            </a:r>
            <a:r>
              <a:rPr sz="1050" b="1" i="0" dirty="0" err="1">
                <a:solidFill>
                  <a:srgbClr val="504C91"/>
                </a:solidFill>
                <a:latin typeface="Arial"/>
              </a:rPr>
              <a:t>khi</a:t>
            </a:r>
            <a:r>
              <a:rPr sz="1050" b="1" i="0" dirty="0">
                <a:solidFill>
                  <a:srgbClr val="504C91"/>
                </a:solidFill>
                <a:latin typeface="Arial"/>
              </a:rPr>
              <a:t> </a:t>
            </a:r>
            <a:r>
              <a:rPr sz="1050" b="1" i="0" dirty="0" err="1">
                <a:solidFill>
                  <a:srgbClr val="504C91"/>
                </a:solidFill>
                <a:latin typeface="Arial"/>
              </a:rPr>
              <a:t>xem</a:t>
            </a:r>
            <a:r>
              <a:rPr sz="1050" b="1" i="0" dirty="0">
                <a:solidFill>
                  <a:srgbClr val="504C91"/>
                </a:solidFill>
                <a:latin typeface="Arial"/>
              </a:rPr>
              <a:t> NXB </a:t>
            </a:r>
            <a:r>
              <a:rPr sz="1050" b="1" i="0" dirty="0" err="1">
                <a:solidFill>
                  <a:srgbClr val="504C91"/>
                </a:solidFill>
                <a:latin typeface="Arial"/>
              </a:rPr>
              <a:t>là</a:t>
            </a:r>
            <a:r>
              <a:rPr sz="1050" b="1" i="0" dirty="0">
                <a:solidFill>
                  <a:srgbClr val="504C91"/>
                </a:solidFill>
                <a:latin typeface="Arial"/>
              </a:rPr>
              <a:t> </a:t>
            </a:r>
            <a:r>
              <a:rPr sz="1050" b="1" i="0" dirty="0" err="1">
                <a:solidFill>
                  <a:srgbClr val="504C91"/>
                </a:solidFill>
                <a:latin typeface="Arial"/>
              </a:rPr>
              <a:t>đối</a:t>
            </a:r>
            <a:r>
              <a:rPr sz="1050" b="1" i="0" dirty="0">
                <a:solidFill>
                  <a:srgbClr val="504C91"/>
                </a:solidFill>
                <a:latin typeface="Arial"/>
              </a:rPr>
              <a:t> </a:t>
            </a:r>
            <a:r>
              <a:rPr sz="1050" b="1" i="0" dirty="0" err="1">
                <a:solidFill>
                  <a:srgbClr val="504C91"/>
                </a:solidFill>
                <a:latin typeface="Arial"/>
              </a:rPr>
              <a:t>tác</a:t>
            </a:r>
            <a:r>
              <a:rPr sz="1050" b="1" i="0" dirty="0">
                <a:solidFill>
                  <a:srgbClr val="504C91"/>
                </a:solidFill>
                <a:latin typeface="Arial"/>
              </a:rPr>
              <a:t> </a:t>
            </a:r>
            <a:r>
              <a:rPr sz="1050" b="1" i="0" dirty="0" err="1">
                <a:solidFill>
                  <a:srgbClr val="504C91"/>
                </a:solidFill>
                <a:latin typeface="Arial"/>
              </a:rPr>
              <a:t>chiến</a:t>
            </a:r>
            <a:r>
              <a:rPr sz="1050" b="1" i="0" dirty="0">
                <a:solidFill>
                  <a:srgbClr val="504C91"/>
                </a:solidFill>
                <a:latin typeface="Arial"/>
              </a:rPr>
              <a:t> </a:t>
            </a:r>
            <a:r>
              <a:rPr sz="1050" b="1" i="0" dirty="0" err="1">
                <a:solidFill>
                  <a:srgbClr val="504C91"/>
                </a:solidFill>
                <a:latin typeface="Arial"/>
              </a:rPr>
              <a:t>lược</a:t>
            </a:r>
            <a:r>
              <a:rPr sz="1050" b="1" i="0" dirty="0">
                <a:solidFill>
                  <a:srgbClr val="504C91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18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02A44"/>
                </a:solidFill>
                <a:latin typeface="Arial"/>
              </a:rPr>
              <a:t>Chiến lược giá: cân bằng quy mô bán và giá trị trên mỗi sách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05840"/>
            <a:ext cx="1106424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Arial"/>
              </a:rPr>
              <a:t>Phân khúc giá được tạo từ current_price. Số liệu cho thấy quy mô và revenue/book có xu hướng khác nhau giữa các nhóm.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8890">
            <a:solidFill>
              <a:srgbClr val="E7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21207" y="6565392"/>
            <a:ext cx="45720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B7280"/>
                </a:solidFill>
                <a:latin typeface="Arial"/>
              </a:rPr>
              <a:t>TADA BOOK ANALYTICS  •  TASK 6–10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56248"/>
            <a:ext cx="8229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B7280"/>
                </a:solidFill>
                <a:latin typeface="Arial"/>
              </a:rPr>
              <a:t>07 / 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4553712"/>
            <a:ext cx="5394960" cy="1234440"/>
          </a:xfrm>
          <a:prstGeom prst="roundRect">
            <a:avLst/>
          </a:prstGeom>
          <a:solidFill>
            <a:srgbClr val="F7E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4754880"/>
            <a:ext cx="128016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96B35"/>
                </a:solidFill>
                <a:latin typeface="Arial"/>
              </a:rPr>
              <a:t>DƯỚI $5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084064"/>
            <a:ext cx="45720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02A44"/>
                </a:solidFill>
                <a:latin typeface="Arial"/>
              </a:rPr>
              <a:t>1.201 sách • 75,9% quantity • 53,96% revenue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404104"/>
            <a:ext cx="44805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Arial"/>
              </a:rPr>
              <a:t>~$10,283 doanh thu / sách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553712"/>
            <a:ext cx="5394960" cy="1234440"/>
          </a:xfrm>
          <a:prstGeom prst="roundRect">
            <a:avLst/>
          </a:prstGeom>
          <a:solidFill>
            <a:srgbClr val="EAE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9088" y="4754880"/>
            <a:ext cx="146304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04C91"/>
                </a:solidFill>
                <a:latin typeface="Arial"/>
              </a:rPr>
              <a:t>TRÊN $20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5084064"/>
            <a:ext cx="45720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02A44"/>
                </a:solidFill>
                <a:latin typeface="Arial"/>
              </a:rPr>
              <a:t>25 sách • chỉ 1,1% quantity • 7,23% revenue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5404104"/>
            <a:ext cx="44805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Arial"/>
              </a:rPr>
              <a:t>~$66,149 doanh thu / sách; mẫu nhỏ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5961888"/>
            <a:ext cx="108813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A3141"/>
                </a:solidFill>
                <a:latin typeface="Arial"/>
              </a:rPr>
              <a:t>Đề xuất: quản trị danh mục theo cả revenue/book, gross margin và tốc độ bán — không chỉ theo tổng doanh thu.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645A452-73D1-7A54-AC67-08188B0FE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1421063"/>
            <a:ext cx="4480560" cy="293272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08A795B-13C1-7EB6-EA9C-76D2BA5F19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1421063"/>
            <a:ext cx="4480560" cy="29327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18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02A44"/>
                </a:solidFill>
                <a:latin typeface="Arial"/>
              </a:rPr>
              <a:t>Khuyến mãi: giảm sâu không mặc định đồng nghĩa hiệu quả cao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05840"/>
            <a:ext cx="1106424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Arial"/>
              </a:rPr>
              <a:t>Nhóm discount 30–40% lớn nhất trong dataset; mối liên hệ này chưa chứng minh discount là nguyên nhân làm tăng bán hàng.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8890">
            <a:solidFill>
              <a:srgbClr val="E7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21207" y="6565392"/>
            <a:ext cx="45720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B7280"/>
                </a:solidFill>
                <a:latin typeface="Arial"/>
              </a:rPr>
              <a:t>TADA BOOK ANALYTICS  •  TASK 6–10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56248"/>
            <a:ext cx="8229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B7280"/>
                </a:solidFill>
                <a:latin typeface="Arial"/>
              </a:rPr>
              <a:t>08 / 18</a:t>
            </a:r>
          </a:p>
        </p:txBody>
      </p:sp>
      <p:pic>
        <p:nvPicPr>
          <p:cNvPr id="9" name="Picture 8" descr="discount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417320"/>
            <a:ext cx="5577840" cy="3063240"/>
          </a:xfrm>
          <a:prstGeom prst="rect">
            <a:avLst/>
          </a:prstGeom>
        </p:spPr>
      </p:pic>
      <p:pic>
        <p:nvPicPr>
          <p:cNvPr id="10" name="Picture 9" descr="discount_quant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056" y="1417320"/>
            <a:ext cx="5422392" cy="3063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30352" y="4590288"/>
            <a:ext cx="3511296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0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4773168"/>
            <a:ext cx="26517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78A79"/>
                </a:solidFill>
                <a:latin typeface="Arial"/>
              </a:rPr>
              <a:t>30–40% DISCOUNT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5084064"/>
            <a:ext cx="2743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02A44"/>
                </a:solidFill>
                <a:latin typeface="Arial"/>
              </a:rPr>
              <a:t>$10.74M revenue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5404104"/>
            <a:ext cx="2743200" cy="1737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Arial"/>
              </a:rPr>
              <a:t>645 sách • 2.68M cuốn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4590288"/>
            <a:ext cx="3511296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0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35424" y="4773168"/>
            <a:ext cx="28346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96B35"/>
                </a:solidFill>
                <a:latin typeface="Arial"/>
              </a:rPr>
              <a:t>MỨC GIẢM GIÁ TRUNG BÌNH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5084064"/>
            <a:ext cx="2743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02A44"/>
                </a:solidFill>
                <a:latin typeface="Arial"/>
              </a:rPr>
              <a:t>27.24%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5404104"/>
            <a:ext cx="2743200" cy="1737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Arial"/>
              </a:rPr>
              <a:t>Tính trên các đầu sách trong dataset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3" y="4590288"/>
            <a:ext cx="3483864" cy="1143000"/>
          </a:xfrm>
          <a:prstGeom prst="roundRect">
            <a:avLst/>
          </a:prstGeom>
          <a:solidFill>
            <a:srgbClr val="EAE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4773168"/>
            <a:ext cx="22860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04C91"/>
                </a:solidFill>
                <a:latin typeface="Arial"/>
              </a:rPr>
              <a:t>QUYẾT ĐỊNH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5084064"/>
            <a:ext cx="2743200" cy="246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02A44"/>
                </a:solidFill>
                <a:latin typeface="Arial"/>
              </a:rPr>
              <a:t>A/B test 10% / 20% / 30%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5404104"/>
            <a:ext cx="2743200" cy="1737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Arial"/>
              </a:rPr>
              <a:t>Chỉ scale nếu margin đạt ngưỡng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18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02A44"/>
                </a:solidFill>
                <a:latin typeface="Arial"/>
              </a:rPr>
              <a:t>Rating cao phổ biến, còn review volume phân hóa rõ hơn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05840"/>
            <a:ext cx="1106424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Arial"/>
              </a:rPr>
              <a:t>Trong dataset, rating tập trung cao nhưng không tương quan tuyến tính rõ với quantity; số lượt đánh giá có tương quan dương vừa phải.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8890">
            <a:solidFill>
              <a:srgbClr val="E7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21207" y="6565392"/>
            <a:ext cx="45720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B7280"/>
                </a:solidFill>
                <a:latin typeface="Arial"/>
              </a:rPr>
              <a:t>TADA BOOK ANALYTICS  •  TASK 6–10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56248"/>
            <a:ext cx="8229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B7280"/>
                </a:solidFill>
                <a:latin typeface="Arial"/>
              </a:rPr>
              <a:t>09 / 18</a:t>
            </a:r>
          </a:p>
        </p:txBody>
      </p:sp>
      <p:pic>
        <p:nvPicPr>
          <p:cNvPr id="9" name="Picture 8" descr="rating_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44752"/>
            <a:ext cx="5541264" cy="218541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37960" y="1508760"/>
            <a:ext cx="5010912" cy="960120"/>
          </a:xfrm>
          <a:prstGeom prst="roundRect">
            <a:avLst/>
          </a:prstGeom>
          <a:solidFill>
            <a:srgbClr val="EAE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84848" y="1691640"/>
            <a:ext cx="310896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02A44"/>
                </a:solidFill>
                <a:latin typeface="Arial"/>
              </a:rPr>
              <a:t>1.642 / 1.767 sách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4848" y="2075688"/>
            <a:ext cx="411480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04C91"/>
                </a:solidFill>
                <a:latin typeface="Arial"/>
              </a:rPr>
              <a:t>92,9% nằm ở rating 4,5–5,0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2688336"/>
            <a:ext cx="5010912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0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84848" y="2871216"/>
            <a:ext cx="41148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02A44"/>
                </a:solidFill>
                <a:latin typeface="Arial"/>
              </a:rPr>
              <a:t>Pearson: review vs quantity ≈ +0,32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3255264"/>
            <a:ext cx="429768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dirty="0" err="1">
                <a:solidFill>
                  <a:srgbClr val="6B7280"/>
                </a:solidFill>
                <a:latin typeface="Arial"/>
              </a:rPr>
              <a:t>Có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tương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quan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dương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vừa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phải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;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không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chứng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minh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nhân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quả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3913632"/>
            <a:ext cx="5010912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0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84848" y="4096512"/>
            <a:ext cx="41148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02A44"/>
                </a:solidFill>
                <a:latin typeface="Arial"/>
              </a:rPr>
              <a:t>Pearson: rating vs quantity ≈ +0,02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4480560"/>
            <a:ext cx="429768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dirty="0">
                <a:solidFill>
                  <a:srgbClr val="6B7280"/>
                </a:solidFill>
                <a:latin typeface="Arial"/>
              </a:rPr>
              <a:t>Rating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đơn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lẻ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ít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phân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biệt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được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sức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bán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trong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mẫu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này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614416"/>
            <a:ext cx="10789920" cy="1985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dirty="0" err="1">
                <a:solidFill>
                  <a:srgbClr val="2A3141"/>
                </a:solidFill>
                <a:latin typeface="Arial"/>
              </a:rPr>
              <a:t>Nên</a:t>
            </a:r>
            <a:r>
              <a:rPr sz="1050" b="1" i="0" dirty="0">
                <a:solidFill>
                  <a:srgbClr val="2A3141"/>
                </a:solidFill>
                <a:latin typeface="Arial"/>
              </a:rPr>
              <a:t> </a:t>
            </a:r>
            <a:r>
              <a:rPr sz="1050" b="1" i="0" dirty="0" err="1">
                <a:solidFill>
                  <a:srgbClr val="2A3141"/>
                </a:solidFill>
                <a:latin typeface="Arial"/>
              </a:rPr>
              <a:t>kết</a:t>
            </a:r>
            <a:r>
              <a:rPr sz="1050" b="1" i="0" dirty="0">
                <a:solidFill>
                  <a:srgbClr val="2A3141"/>
                </a:solidFill>
                <a:latin typeface="Arial"/>
              </a:rPr>
              <a:t> </a:t>
            </a:r>
            <a:r>
              <a:rPr sz="1050" b="1" i="0" dirty="0" err="1">
                <a:solidFill>
                  <a:srgbClr val="2A3141"/>
                </a:solidFill>
                <a:latin typeface="Arial"/>
              </a:rPr>
              <a:t>hợp</a:t>
            </a:r>
            <a:r>
              <a:rPr sz="1050" b="1" i="0" dirty="0">
                <a:solidFill>
                  <a:srgbClr val="2A3141"/>
                </a:solidFill>
                <a:latin typeface="Arial"/>
              </a:rPr>
              <a:t> </a:t>
            </a:r>
            <a:r>
              <a:rPr sz="1050" b="1" i="0" dirty="0" err="1">
                <a:solidFill>
                  <a:srgbClr val="2A3141"/>
                </a:solidFill>
                <a:latin typeface="Arial"/>
              </a:rPr>
              <a:t>n_review</a:t>
            </a:r>
            <a:r>
              <a:rPr sz="1050" b="1" i="0" dirty="0">
                <a:solidFill>
                  <a:srgbClr val="2A3141"/>
                </a:solidFill>
                <a:latin typeface="Arial"/>
              </a:rPr>
              <a:t>, rating, category, price </a:t>
            </a:r>
            <a:r>
              <a:rPr sz="1050" b="1" i="0" dirty="0" err="1">
                <a:solidFill>
                  <a:srgbClr val="2A3141"/>
                </a:solidFill>
                <a:latin typeface="Arial"/>
              </a:rPr>
              <a:t>và</a:t>
            </a:r>
            <a:r>
              <a:rPr sz="1050" b="1" i="0" dirty="0">
                <a:solidFill>
                  <a:srgbClr val="2A3141"/>
                </a:solidFill>
                <a:latin typeface="Arial"/>
              </a:rPr>
              <a:t> </a:t>
            </a:r>
            <a:r>
              <a:rPr sz="1050" b="1" i="0" dirty="0" err="1">
                <a:solidFill>
                  <a:srgbClr val="2A3141"/>
                </a:solidFill>
                <a:latin typeface="Arial"/>
              </a:rPr>
              <a:t>bối</a:t>
            </a:r>
            <a:r>
              <a:rPr sz="1050" b="1" i="0" dirty="0">
                <a:solidFill>
                  <a:srgbClr val="2A3141"/>
                </a:solidFill>
                <a:latin typeface="Arial"/>
              </a:rPr>
              <a:t> </a:t>
            </a:r>
            <a:r>
              <a:rPr sz="1050" b="1" i="0" dirty="0" err="1">
                <a:solidFill>
                  <a:srgbClr val="2A3141"/>
                </a:solidFill>
                <a:latin typeface="Arial"/>
              </a:rPr>
              <a:t>cảnh</a:t>
            </a:r>
            <a:r>
              <a:rPr sz="1050" b="1" i="0" dirty="0">
                <a:solidFill>
                  <a:srgbClr val="2A3141"/>
                </a:solidFill>
                <a:latin typeface="Arial"/>
              </a:rPr>
              <a:t> </a:t>
            </a:r>
            <a:r>
              <a:rPr sz="1050" b="1" i="0" dirty="0" err="1">
                <a:solidFill>
                  <a:srgbClr val="2A3141"/>
                </a:solidFill>
                <a:latin typeface="Arial"/>
              </a:rPr>
              <a:t>ra</a:t>
            </a:r>
            <a:r>
              <a:rPr sz="1050" b="1" i="0" dirty="0">
                <a:solidFill>
                  <a:srgbClr val="2A3141"/>
                </a:solidFill>
                <a:latin typeface="Arial"/>
              </a:rPr>
              <a:t> </a:t>
            </a:r>
            <a:r>
              <a:rPr sz="1050" b="1" i="0" dirty="0" err="1">
                <a:solidFill>
                  <a:srgbClr val="2A3141"/>
                </a:solidFill>
                <a:latin typeface="Arial"/>
              </a:rPr>
              <a:t>quyết</a:t>
            </a:r>
            <a:r>
              <a:rPr sz="1050" b="1" i="0" dirty="0">
                <a:solidFill>
                  <a:srgbClr val="2A3141"/>
                </a:solidFill>
                <a:latin typeface="Arial"/>
              </a:rPr>
              <a:t> </a:t>
            </a:r>
            <a:r>
              <a:rPr sz="1050" b="1" i="0" dirty="0" err="1">
                <a:solidFill>
                  <a:srgbClr val="2A3141"/>
                </a:solidFill>
                <a:latin typeface="Arial"/>
              </a:rPr>
              <a:t>định</a:t>
            </a:r>
            <a:r>
              <a:rPr sz="1050" b="1" i="0" dirty="0">
                <a:solidFill>
                  <a:srgbClr val="2A3141"/>
                </a:solidFill>
                <a:latin typeface="Arial"/>
              </a:rPr>
              <a:t>; </a:t>
            </a:r>
            <a:r>
              <a:rPr sz="1050" b="1" i="0" dirty="0" err="1">
                <a:solidFill>
                  <a:srgbClr val="2A3141"/>
                </a:solidFill>
                <a:latin typeface="Arial"/>
              </a:rPr>
              <a:t>kiểm</a:t>
            </a:r>
            <a:r>
              <a:rPr sz="1050" b="1" i="0" dirty="0">
                <a:solidFill>
                  <a:srgbClr val="2A3141"/>
                </a:solidFill>
                <a:latin typeface="Arial"/>
              </a:rPr>
              <a:t> </a:t>
            </a:r>
            <a:r>
              <a:rPr sz="1050" b="1" i="0" dirty="0" err="1">
                <a:solidFill>
                  <a:srgbClr val="2A3141"/>
                </a:solidFill>
                <a:latin typeface="Arial"/>
              </a:rPr>
              <a:t>tra</a:t>
            </a:r>
            <a:r>
              <a:rPr sz="1050" b="1" i="0" dirty="0">
                <a:solidFill>
                  <a:srgbClr val="2A3141"/>
                </a:solidFill>
                <a:latin typeface="Arial"/>
              </a:rPr>
              <a:t> </a:t>
            </a:r>
            <a:r>
              <a:rPr sz="1050" b="1" i="0" dirty="0" err="1">
                <a:solidFill>
                  <a:srgbClr val="2A3141"/>
                </a:solidFill>
                <a:latin typeface="Arial"/>
              </a:rPr>
              <a:t>thời</a:t>
            </a:r>
            <a:r>
              <a:rPr sz="1050" b="1" i="0" dirty="0">
                <a:solidFill>
                  <a:srgbClr val="2A3141"/>
                </a:solidFill>
                <a:latin typeface="Arial"/>
              </a:rPr>
              <a:t> </a:t>
            </a:r>
            <a:r>
              <a:rPr sz="1050" b="1" i="0" dirty="0" err="1">
                <a:solidFill>
                  <a:srgbClr val="2A3141"/>
                </a:solidFill>
                <a:latin typeface="Arial"/>
              </a:rPr>
              <a:t>điểm</a:t>
            </a:r>
            <a:r>
              <a:rPr sz="1050" b="1" i="0" dirty="0">
                <a:solidFill>
                  <a:srgbClr val="2A3141"/>
                </a:solidFill>
                <a:latin typeface="Arial"/>
              </a:rPr>
              <a:t> </a:t>
            </a:r>
            <a:r>
              <a:rPr sz="1050" b="1" i="0" dirty="0" err="1">
                <a:solidFill>
                  <a:srgbClr val="2A3141"/>
                </a:solidFill>
                <a:latin typeface="Arial"/>
              </a:rPr>
              <a:t>phát</a:t>
            </a:r>
            <a:r>
              <a:rPr sz="1050" b="1" i="0" dirty="0">
                <a:solidFill>
                  <a:srgbClr val="2A3141"/>
                </a:solidFill>
                <a:latin typeface="Arial"/>
              </a:rPr>
              <a:t> </a:t>
            </a:r>
            <a:r>
              <a:rPr sz="1050" b="1" i="0" dirty="0" err="1">
                <a:solidFill>
                  <a:srgbClr val="2A3141"/>
                </a:solidFill>
                <a:latin typeface="Arial"/>
              </a:rPr>
              <a:t>sinh</a:t>
            </a:r>
            <a:r>
              <a:rPr sz="1050" b="1" i="0" dirty="0">
                <a:solidFill>
                  <a:srgbClr val="2A3141"/>
                </a:solidFill>
                <a:latin typeface="Arial"/>
              </a:rPr>
              <a:t> </a:t>
            </a:r>
            <a:r>
              <a:rPr sz="1050" b="1" i="0" dirty="0" err="1">
                <a:solidFill>
                  <a:srgbClr val="2A3141"/>
                </a:solidFill>
                <a:latin typeface="Arial"/>
              </a:rPr>
              <a:t>dữ</a:t>
            </a:r>
            <a:r>
              <a:rPr sz="1050" b="1" i="0" dirty="0">
                <a:solidFill>
                  <a:srgbClr val="2A3141"/>
                </a:solidFill>
                <a:latin typeface="Arial"/>
              </a:rPr>
              <a:t> </a:t>
            </a:r>
            <a:r>
              <a:rPr sz="1050" b="1" i="0" dirty="0" err="1">
                <a:solidFill>
                  <a:srgbClr val="2A3141"/>
                </a:solidFill>
                <a:latin typeface="Arial"/>
              </a:rPr>
              <a:t>liệu</a:t>
            </a:r>
            <a:r>
              <a:rPr sz="1050" b="1" i="0" dirty="0">
                <a:solidFill>
                  <a:srgbClr val="2A3141"/>
                </a:solidFill>
                <a:latin typeface="Arial"/>
              </a:rPr>
              <a:t> review.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772601A-8E04-1B1A-077A-531EBE0E36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7" y="3843818"/>
            <a:ext cx="2572109" cy="156231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4E04AD2-EF35-0BF6-AD88-94065E43B1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212" y="3838448"/>
            <a:ext cx="2572109" cy="156231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18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02A44"/>
                </a:solidFill>
                <a:latin typeface="Arial"/>
              </a:rPr>
              <a:t>Machine Learning: phân loại Bestseller theo quy ước dự 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05840"/>
            <a:ext cx="1106424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dirty="0" err="1">
                <a:solidFill>
                  <a:srgbClr val="6B7280"/>
                </a:solidFill>
                <a:latin typeface="Arial"/>
              </a:rPr>
              <a:t>Bài</a:t>
            </a:r>
            <a:r>
              <a:rPr sz="11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Arial"/>
              </a:rPr>
              <a:t>toán</a:t>
            </a:r>
            <a:r>
              <a:rPr sz="11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Arial"/>
              </a:rPr>
              <a:t>hiện</a:t>
            </a:r>
            <a:r>
              <a:rPr sz="11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Arial"/>
              </a:rPr>
              <a:t>tại</a:t>
            </a:r>
            <a:r>
              <a:rPr sz="11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Arial"/>
              </a:rPr>
              <a:t>là</a:t>
            </a:r>
            <a:r>
              <a:rPr sz="11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Arial"/>
              </a:rPr>
              <a:t>phân</a:t>
            </a:r>
            <a:r>
              <a:rPr sz="11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Arial"/>
              </a:rPr>
              <a:t>loại</a:t>
            </a:r>
            <a:r>
              <a:rPr sz="11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Arial"/>
              </a:rPr>
              <a:t>theo</a:t>
            </a:r>
            <a:r>
              <a:rPr sz="11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Arial"/>
              </a:rPr>
              <a:t>dữ</a:t>
            </a:r>
            <a:r>
              <a:rPr sz="11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Arial"/>
              </a:rPr>
              <a:t>liệu</a:t>
            </a:r>
            <a:r>
              <a:rPr sz="11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Arial"/>
              </a:rPr>
              <a:t>sản</a:t>
            </a:r>
            <a:r>
              <a:rPr sz="11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Arial"/>
              </a:rPr>
              <a:t>phẩm</a:t>
            </a:r>
            <a:r>
              <a:rPr sz="11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Arial"/>
              </a:rPr>
              <a:t>đang</a:t>
            </a:r>
            <a:r>
              <a:rPr sz="11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Arial"/>
              </a:rPr>
              <a:t>có</a:t>
            </a:r>
            <a:r>
              <a:rPr sz="1100" b="0" i="0" dirty="0">
                <a:solidFill>
                  <a:srgbClr val="6B7280"/>
                </a:solidFill>
                <a:latin typeface="Arial"/>
              </a:rPr>
              <a:t>; </a:t>
            </a:r>
            <a:r>
              <a:rPr sz="1100" b="0" i="0" dirty="0" err="1">
                <a:solidFill>
                  <a:srgbClr val="6B7280"/>
                </a:solidFill>
                <a:latin typeface="Arial"/>
              </a:rPr>
              <a:t>chưa</a:t>
            </a:r>
            <a:r>
              <a:rPr sz="11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Arial"/>
              </a:rPr>
              <a:t>phải</a:t>
            </a:r>
            <a:r>
              <a:rPr sz="11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Arial"/>
              </a:rPr>
              <a:t>dự</a:t>
            </a:r>
            <a:r>
              <a:rPr sz="11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Arial"/>
              </a:rPr>
              <a:t>báo</a:t>
            </a:r>
            <a:r>
              <a:rPr sz="11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Arial"/>
              </a:rPr>
              <a:t>theo</a:t>
            </a:r>
            <a:r>
              <a:rPr sz="11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Arial"/>
              </a:rPr>
              <a:t>thời</a:t>
            </a:r>
            <a:r>
              <a:rPr sz="11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Arial"/>
              </a:rPr>
              <a:t>gian</a:t>
            </a:r>
            <a:r>
              <a:rPr sz="11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Arial"/>
              </a:rPr>
              <a:t>cho</a:t>
            </a:r>
            <a:r>
              <a:rPr sz="11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Arial"/>
              </a:rPr>
              <a:t>sách</a:t>
            </a:r>
            <a:r>
              <a:rPr sz="11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Arial"/>
              </a:rPr>
              <a:t>mới</a:t>
            </a:r>
            <a:r>
              <a:rPr sz="1100" b="0" i="0" dirty="0">
                <a:solidFill>
                  <a:srgbClr val="6B7280"/>
                </a:solidFill>
                <a:latin typeface="Arial"/>
              </a:rPr>
              <a:t>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8890">
            <a:solidFill>
              <a:srgbClr val="E7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21207" y="6565392"/>
            <a:ext cx="45720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B7280"/>
                </a:solidFill>
                <a:latin typeface="Arial"/>
              </a:rPr>
              <a:t>TADA BOOK ANALYTICS  •  TASK 6–10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56248"/>
            <a:ext cx="8229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B7280"/>
                </a:solidFill>
                <a:latin typeface="Arial"/>
              </a:rPr>
              <a:t>10 /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3200400" cy="4434840"/>
          </a:xfrm>
          <a:prstGeom prst="roundRect">
            <a:avLst/>
          </a:prstGeom>
          <a:solidFill>
            <a:srgbClr val="2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755648"/>
            <a:ext cx="10972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C89F"/>
                </a:solidFill>
                <a:latin typeface="Arial"/>
              </a:rPr>
              <a:t>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075688"/>
            <a:ext cx="24688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is_bestseller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542032"/>
            <a:ext cx="24688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C89F"/>
                </a:solidFill>
                <a:latin typeface="Arial"/>
              </a:rPr>
              <a:t>quantity ≥ 500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2980944"/>
            <a:ext cx="2578608" cy="0"/>
          </a:xfrm>
          <a:prstGeom prst="line">
            <a:avLst/>
          </a:prstGeom>
          <a:ln w="12700">
            <a:solidFill>
              <a:srgbClr val="6670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3227832"/>
            <a:ext cx="25603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E6E8EF"/>
                </a:solidFill>
                <a:latin typeface="Arial"/>
              </a:rPr>
              <a:t>Nhãn do dự án định nghĩa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84448"/>
            <a:ext cx="256032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947 Bestseller  •  820 Not Bestseller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142232"/>
            <a:ext cx="25603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C89F"/>
                </a:solidFill>
                <a:latin typeface="Arial"/>
              </a:rPr>
              <a:t>53,6% / 46,4%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818888"/>
            <a:ext cx="2468880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Train: 1.413 dòng</a:t>
            </a:r>
            <a:br/>
            <a:r>
              <a:rPr sz="1200" b="1" i="0">
                <a:solidFill>
                  <a:srgbClr val="FFFFFF"/>
                </a:solidFill>
                <a:latin typeface="Arial"/>
              </a:rPr>
              <a:t>Test: 354 dòng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77639" y="1463040"/>
            <a:ext cx="365760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0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24528" y="1755648"/>
            <a:ext cx="22860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96B35"/>
                </a:solidFill>
                <a:latin typeface="Arial"/>
              </a:rPr>
              <a:t>INPUT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24528" y="2103120"/>
            <a:ext cx="10972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04C91"/>
                </a:solidFill>
                <a:latin typeface="Arial"/>
              </a:rPr>
              <a:t>Numeric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24528" y="2377440"/>
            <a:ext cx="2971800" cy="11430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2A3141"/>
                </a:solidFill>
                <a:latin typeface="Arial"/>
              </a:defRPr>
            </a:pPr>
            <a:r>
              <a:t>•  current_price · original_price</a:t>
            </a:r>
          </a:p>
          <a:p>
            <a:pPr>
              <a:spcAft>
                <a:spcPts val="500"/>
              </a:spcAft>
              <a:defRPr sz="1000">
                <a:solidFill>
                  <a:srgbClr val="2A3141"/>
                </a:solidFill>
                <a:latin typeface="Arial"/>
              </a:defRPr>
            </a:pPr>
            <a:r>
              <a:t>•  avg_rating · n_review</a:t>
            </a:r>
          </a:p>
          <a:p>
            <a:pPr>
              <a:spcAft>
                <a:spcPts val="500"/>
              </a:spcAft>
              <a:defRPr sz="1000">
                <a:solidFill>
                  <a:srgbClr val="2A3141"/>
                </a:solidFill>
                <a:latin typeface="Arial"/>
              </a:defRPr>
            </a:pPr>
            <a:r>
              <a:t>•  pages · discount_percent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24528" y="3675887"/>
            <a:ext cx="25603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04C91"/>
                </a:solidFill>
                <a:latin typeface="Arial"/>
              </a:rPr>
              <a:t>Categorical / engineered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24528" y="3941063"/>
            <a:ext cx="2926080" cy="10972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2A3141"/>
                </a:solidFill>
                <a:latin typeface="Arial"/>
              </a:defRPr>
            </a:pPr>
            <a:r>
              <a:t>•  category · manufacturer</a:t>
            </a:r>
          </a:p>
          <a:p>
            <a:pPr>
              <a:spcAft>
                <a:spcPts val="500"/>
              </a:spcAft>
              <a:defRPr sz="1000">
                <a:solidFill>
                  <a:srgbClr val="2A3141"/>
                </a:solidFill>
                <a:latin typeface="Arial"/>
              </a:defRPr>
            </a:pPr>
            <a:r>
              <a:t>•  price_segment · rating_group</a:t>
            </a:r>
          </a:p>
          <a:p>
            <a:pPr>
              <a:spcAft>
                <a:spcPts val="500"/>
              </a:spcAft>
              <a:defRPr sz="1000">
                <a:solidFill>
                  <a:srgbClr val="2A3141"/>
                </a:solidFill>
                <a:latin typeface="Arial"/>
              </a:defRPr>
            </a:pPr>
            <a:r>
              <a:t>•  page_segment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00416" y="1463040"/>
            <a:ext cx="3703320" cy="1874519"/>
          </a:xfrm>
          <a:prstGeom prst="roundRect">
            <a:avLst/>
          </a:prstGeom>
          <a:solidFill>
            <a:srgbClr val="F7E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56448" y="1737360"/>
            <a:ext cx="1828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96B35"/>
                </a:solidFill>
                <a:latin typeface="Arial"/>
              </a:rPr>
              <a:t>BASELINE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6448" y="2066543"/>
            <a:ext cx="292608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02A44"/>
                </a:solidFill>
                <a:latin typeface="Arial"/>
              </a:rPr>
              <a:t>Logistic Regression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56448" y="2587752"/>
            <a:ext cx="28346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A3141"/>
                </a:solidFill>
                <a:latin typeface="Arial"/>
              </a:rPr>
              <a:t>Đường chuẩn tuyến tính để so sánh.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0416" y="3566160"/>
            <a:ext cx="3703320" cy="2331720"/>
          </a:xfrm>
          <a:prstGeom prst="roundRect">
            <a:avLst/>
          </a:prstGeom>
          <a:solidFill>
            <a:srgbClr val="EAE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56448" y="3840480"/>
            <a:ext cx="21945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04C91"/>
                </a:solidFill>
                <a:latin typeface="Arial"/>
              </a:rPr>
              <a:t>MODEL ỨNG VIÊN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6448" y="4169663"/>
            <a:ext cx="292608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02A44"/>
                </a:solidFill>
                <a:latin typeface="Arial"/>
              </a:rPr>
              <a:t>Random Forest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56448" y="4681728"/>
            <a:ext cx="2852928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A3141"/>
                </a:solidFill>
                <a:latin typeface="Arial"/>
              </a:rPr>
              <a:t>Học tương tác phi tuyến và kết hợp tín hiệu; chọn bằng chỉ số holdout.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18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02A44"/>
                </a:solidFill>
                <a:latin typeface="Arial"/>
              </a:rPr>
              <a:t>So sánh mô hình: chọn Random Forest cho mục tiêu sàng lọc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05840"/>
            <a:ext cx="11064240" cy="1985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 dirty="0" err="1">
                <a:solidFill>
                  <a:srgbClr val="6B7280"/>
                </a:solidFill>
                <a:latin typeface="Arial"/>
              </a:rPr>
              <a:t>Đánh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giá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trên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tập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test 354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đầu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sách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;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ưu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tiên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recall/F1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khi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muốn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giảm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bỏ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sót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Bestseller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tiềm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năng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8890">
            <a:solidFill>
              <a:srgbClr val="E7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21207" y="6565392"/>
            <a:ext cx="45720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B7280"/>
                </a:solidFill>
                <a:latin typeface="Arial"/>
              </a:rPr>
              <a:t>TADA BOOK ANALYTICS  •  TASK 6–10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56248"/>
            <a:ext cx="8229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B7280"/>
                </a:solidFill>
                <a:latin typeface="Arial"/>
              </a:rPr>
              <a:t>11 / 18</a:t>
            </a:r>
          </a:p>
        </p:txBody>
      </p:sp>
      <p:pic>
        <p:nvPicPr>
          <p:cNvPr id="9" name="Picture 8" descr="model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417320"/>
            <a:ext cx="6537960" cy="3429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269480" y="1508760"/>
            <a:ext cx="4297680" cy="1188720"/>
          </a:xfrm>
          <a:prstGeom prst="roundRect">
            <a:avLst/>
          </a:prstGeom>
          <a:solidFill>
            <a:srgbClr val="EAE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16368" y="1700784"/>
            <a:ext cx="10972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04C91"/>
                </a:solidFill>
                <a:latin typeface="Arial"/>
              </a:rPr>
              <a:t>LỰA CHỌN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16368" y="1993392"/>
            <a:ext cx="347472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02A44"/>
                </a:solidFill>
                <a:latin typeface="Arial"/>
              </a:rPr>
              <a:t>Random Forest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6368" y="2395728"/>
            <a:ext cx="361188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dirty="0">
                <a:solidFill>
                  <a:srgbClr val="504C91"/>
                </a:solidFill>
                <a:latin typeface="Arial"/>
              </a:rPr>
              <a:t>Accuracy +2,0 </a:t>
            </a:r>
            <a:r>
              <a:rPr sz="1000" b="1" i="0" dirty="0" err="1">
                <a:solidFill>
                  <a:srgbClr val="504C91"/>
                </a:solidFill>
                <a:latin typeface="Arial"/>
              </a:rPr>
              <a:t>điểm</a:t>
            </a:r>
            <a:r>
              <a:rPr sz="1000" b="1" i="0" dirty="0">
                <a:solidFill>
                  <a:srgbClr val="504C91"/>
                </a:solidFill>
                <a:latin typeface="Arial"/>
              </a:rPr>
              <a:t> % • F1 +2,2 </a:t>
            </a:r>
            <a:r>
              <a:rPr sz="1000" b="1" i="0" dirty="0" err="1">
                <a:solidFill>
                  <a:srgbClr val="504C91"/>
                </a:solidFill>
                <a:latin typeface="Arial"/>
              </a:rPr>
              <a:t>điểm</a:t>
            </a:r>
            <a:r>
              <a:rPr sz="1000" b="1" i="0" dirty="0">
                <a:solidFill>
                  <a:srgbClr val="504C91"/>
                </a:solidFill>
                <a:latin typeface="Arial"/>
              </a:rPr>
              <a:t> %</a:t>
            </a:r>
          </a:p>
        </p:txBody>
      </p:sp>
      <p:pic>
        <p:nvPicPr>
          <p:cNvPr id="14" name="Picture 13" descr="rf_con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2743200"/>
            <a:ext cx="2907792" cy="263639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10149840" y="3081528"/>
            <a:ext cx="1435608" cy="128015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0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149840" y="3310128"/>
            <a:ext cx="13258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78A79"/>
                </a:solidFill>
                <a:latin typeface="Arial"/>
              </a:rPr>
              <a:t>174 / 190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0" y="3703320"/>
            <a:ext cx="132588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3141"/>
                </a:solidFill>
                <a:latin typeface="Arial"/>
              </a:rPr>
              <a:t>Bestseller được</a:t>
            </a:r>
            <a:br/>
            <a:r>
              <a:rPr sz="800" b="0" i="0">
                <a:solidFill>
                  <a:srgbClr val="2A3141"/>
                </a:solidFill>
                <a:latin typeface="Arial"/>
              </a:rPr>
              <a:t>nhận diện đúng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596128"/>
            <a:ext cx="10881360" cy="1985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dirty="0">
                <a:solidFill>
                  <a:srgbClr val="2A3141"/>
                </a:solidFill>
                <a:latin typeface="Arial"/>
              </a:rPr>
              <a:t>Trade-off: Logistic Regression </a:t>
            </a:r>
            <a:r>
              <a:rPr sz="1050" b="1" i="0" dirty="0" err="1">
                <a:solidFill>
                  <a:srgbClr val="2A3141"/>
                </a:solidFill>
                <a:latin typeface="Arial"/>
              </a:rPr>
              <a:t>có</a:t>
            </a:r>
            <a:r>
              <a:rPr sz="1050" b="1" i="0" dirty="0">
                <a:solidFill>
                  <a:srgbClr val="2A3141"/>
                </a:solidFill>
                <a:latin typeface="Arial"/>
              </a:rPr>
              <a:t> Precision 94,8%, </a:t>
            </a:r>
            <a:r>
              <a:rPr sz="1050" b="1" i="0" dirty="0" err="1">
                <a:solidFill>
                  <a:srgbClr val="2A3141"/>
                </a:solidFill>
                <a:latin typeface="Arial"/>
              </a:rPr>
              <a:t>cao</a:t>
            </a:r>
            <a:r>
              <a:rPr sz="1050" b="1" i="0" dirty="0">
                <a:solidFill>
                  <a:srgbClr val="2A3141"/>
                </a:solidFill>
                <a:latin typeface="Arial"/>
              </a:rPr>
              <a:t> </a:t>
            </a:r>
            <a:r>
              <a:rPr sz="1050" b="1" i="0" dirty="0" err="1">
                <a:solidFill>
                  <a:srgbClr val="2A3141"/>
                </a:solidFill>
                <a:latin typeface="Arial"/>
              </a:rPr>
              <a:t>hơn</a:t>
            </a:r>
            <a:r>
              <a:rPr sz="1050" b="1" i="0" dirty="0">
                <a:solidFill>
                  <a:srgbClr val="2A3141"/>
                </a:solidFill>
                <a:latin typeface="Arial"/>
              </a:rPr>
              <a:t> RF 93,5%; RF </a:t>
            </a:r>
            <a:r>
              <a:rPr sz="1050" b="1" i="0" dirty="0" err="1">
                <a:solidFill>
                  <a:srgbClr val="2A3141"/>
                </a:solidFill>
                <a:latin typeface="Arial"/>
              </a:rPr>
              <a:t>giảm</a:t>
            </a:r>
            <a:r>
              <a:rPr sz="1050" b="1" i="0" dirty="0">
                <a:solidFill>
                  <a:srgbClr val="2A3141"/>
                </a:solidFill>
                <a:latin typeface="Arial"/>
              </a:rPr>
              <a:t> FN </a:t>
            </a:r>
            <a:r>
              <a:rPr sz="1050" b="1" i="0" dirty="0" err="1">
                <a:solidFill>
                  <a:srgbClr val="2A3141"/>
                </a:solidFill>
                <a:latin typeface="Arial"/>
              </a:rPr>
              <a:t>từ</a:t>
            </a:r>
            <a:r>
              <a:rPr sz="1050" b="1" i="0" dirty="0">
                <a:solidFill>
                  <a:srgbClr val="2A3141"/>
                </a:solidFill>
                <a:latin typeface="Arial"/>
              </a:rPr>
              <a:t> 26 </a:t>
            </a:r>
            <a:r>
              <a:rPr sz="1050" b="1" i="0" dirty="0" err="1">
                <a:solidFill>
                  <a:srgbClr val="2A3141"/>
                </a:solidFill>
                <a:latin typeface="Arial"/>
              </a:rPr>
              <a:t>xuống</a:t>
            </a:r>
            <a:r>
              <a:rPr sz="1050" b="1" i="0" dirty="0">
                <a:solidFill>
                  <a:srgbClr val="2A3141"/>
                </a:solidFill>
                <a:latin typeface="Arial"/>
              </a:rPr>
              <a:t> 16.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18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02A44"/>
                </a:solidFill>
                <a:latin typeface="Arial"/>
              </a:rPr>
              <a:t>Important features: lượt đánh giá nổi bật nhất trong Random Forest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05840"/>
            <a:ext cx="11064240" cy="1985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 dirty="0">
                <a:solidFill>
                  <a:srgbClr val="6B7280"/>
                </a:solidFill>
                <a:latin typeface="Arial"/>
              </a:rPr>
              <a:t>Feature Importance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là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đóng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góp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tương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đối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vào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mô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hình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đã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huấn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luyện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;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không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khẳng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định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biến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đó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gây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ra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doanh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số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8890">
            <a:solidFill>
              <a:srgbClr val="E7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21207" y="6565392"/>
            <a:ext cx="45720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B7280"/>
                </a:solidFill>
                <a:latin typeface="Arial"/>
              </a:rPr>
              <a:t>TADA BOOK ANALYTICS  •  TASK 6–10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56248"/>
            <a:ext cx="8229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B7280"/>
                </a:solidFill>
                <a:latin typeface="Arial"/>
              </a:rPr>
              <a:t>12 / 18</a:t>
            </a:r>
          </a:p>
        </p:txBody>
      </p:sp>
      <p:pic>
        <p:nvPicPr>
          <p:cNvPr id="9" name="Picture 8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6583680" cy="41605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269480" y="1508760"/>
            <a:ext cx="4279392" cy="1097280"/>
          </a:xfrm>
          <a:prstGeom prst="roundRect">
            <a:avLst/>
          </a:prstGeom>
          <a:solidFill>
            <a:srgbClr val="F7E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16368" y="1700784"/>
            <a:ext cx="137160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6B35"/>
                </a:solidFill>
                <a:latin typeface="Arial"/>
              </a:rPr>
              <a:t>n_review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16368" y="1993392"/>
            <a:ext cx="228600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02A44"/>
                </a:solidFill>
                <a:latin typeface="Arial"/>
              </a:rPr>
              <a:t>60,42%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6368" y="2377440"/>
            <a:ext cx="35204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Arial"/>
              </a:rPr>
              <a:t>Lớn hơn nhiều so với các tín hiệu tiếp theo.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2779776"/>
            <a:ext cx="4279392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0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16368" y="2971800"/>
            <a:ext cx="19202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04C91"/>
                </a:solidFill>
                <a:latin typeface="Arial"/>
              </a:rPr>
              <a:t>discount_percent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16368" y="3264408"/>
            <a:ext cx="201168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02A44"/>
                </a:solidFill>
                <a:latin typeface="Arial"/>
              </a:rPr>
              <a:t>7,20%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16368" y="3611880"/>
            <a:ext cx="35661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Arial"/>
              </a:rPr>
              <a:t>Ứng viên phù hợp để kiểm thử mức giảm giá.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9480" y="4023360"/>
            <a:ext cx="4279392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0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16368" y="4261104"/>
            <a:ext cx="365760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02A44"/>
                </a:solidFill>
                <a:latin typeface="Arial"/>
              </a:rPr>
              <a:t>avg_rating 4,49% • original_price 4,25%</a:t>
            </a:r>
            <a:br/>
            <a:r>
              <a:rPr sz="1000" b="1" i="0">
                <a:solidFill>
                  <a:srgbClr val="202A44"/>
                </a:solidFill>
                <a:latin typeface="Arial"/>
              </a:rPr>
              <a:t>current_price 4,08% • pages 3,08%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8" y="4736592"/>
            <a:ext cx="36118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dirty="0">
                <a:solidFill>
                  <a:srgbClr val="6B7280"/>
                </a:solidFill>
                <a:latin typeface="Arial"/>
              </a:rPr>
              <a:t>Lưu ý: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các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mức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 categorical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là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 one-hot feature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riêng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; so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sánh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 feature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theo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trường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cần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gộp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các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mức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cùng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trường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806440"/>
            <a:ext cx="1088136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A3141"/>
                </a:solidFill>
                <a:latin typeface="Arial"/>
              </a:rPr>
              <a:t>Diễn giải đúng: review volume là tín hiệu dự đoán mạnh nhất trong dataset này; chưa chứng minh tăng review sẽ làm tăng sales.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18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02A44"/>
                </a:solidFill>
                <a:latin typeface="Arial"/>
              </a:rPr>
              <a:t>Đề xuất hành động: 6 sáng kiến theo chuỗi giá trị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05840"/>
            <a:ext cx="1106424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Arial"/>
              </a:rPr>
              <a:t>Mỗi đề xuất gắn với insight, chủ sở hữu, KPI và thử nghiệm trước khi mở rộng.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8890">
            <a:solidFill>
              <a:srgbClr val="E7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21207" y="6565392"/>
            <a:ext cx="45720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B7280"/>
                </a:solidFill>
                <a:latin typeface="Arial"/>
              </a:rPr>
              <a:t>TADA BOOK ANALYTICS  •  TASK 6–10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56248"/>
            <a:ext cx="8229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B7280"/>
                </a:solidFill>
                <a:latin typeface="Arial"/>
              </a:rPr>
              <a:t>13 /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81328"/>
            <a:ext cx="3547872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0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13232" y="1645920"/>
            <a:ext cx="566928" cy="292608"/>
          </a:xfrm>
          <a:prstGeom prst="roundRect">
            <a:avLst/>
          </a:prstGeom>
          <a:solidFill>
            <a:srgbClr val="EAE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" y="1682496"/>
            <a:ext cx="420623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78A79"/>
                </a:solidFill>
                <a:latin typeface="Arial"/>
              </a:rPr>
              <a:t>CS1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075688"/>
            <a:ext cx="3154680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02A44"/>
                </a:solidFill>
                <a:latin typeface="Arial"/>
              </a:rPr>
              <a:t>Tư vấn sách dựa trên dữ liệu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551176"/>
            <a:ext cx="21031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B7280"/>
                </a:solidFill>
                <a:latin typeface="Arial"/>
              </a:rPr>
              <a:t>SALES / TƯ VẤN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798064"/>
            <a:ext cx="315468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dirty="0">
                <a:solidFill>
                  <a:srgbClr val="2A3141"/>
                </a:solidFill>
                <a:latin typeface="Arial"/>
              </a:rPr>
              <a:t>Conversion </a:t>
            </a:r>
            <a:r>
              <a:rPr sz="1000" b="0" i="0" dirty="0" err="1">
                <a:solidFill>
                  <a:srgbClr val="2A3141"/>
                </a:solidFill>
                <a:latin typeface="Arial"/>
              </a:rPr>
              <a:t>tư</a:t>
            </a:r>
            <a:r>
              <a:rPr sz="1000" b="0" i="0" dirty="0">
                <a:solidFill>
                  <a:srgbClr val="2A3141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2A3141"/>
                </a:solidFill>
                <a:latin typeface="Arial"/>
              </a:rPr>
              <a:t>vấn</a:t>
            </a:r>
            <a:r>
              <a:rPr sz="1000" b="0" i="0" dirty="0">
                <a:solidFill>
                  <a:srgbClr val="2A3141"/>
                </a:solidFill>
                <a:latin typeface="Arial"/>
              </a:rPr>
              <a:t> → </a:t>
            </a:r>
            <a:r>
              <a:rPr sz="1000" b="0" i="0" dirty="0" err="1">
                <a:solidFill>
                  <a:srgbClr val="2A3141"/>
                </a:solidFill>
                <a:latin typeface="Arial"/>
              </a:rPr>
              <a:t>mua</a:t>
            </a:r>
            <a:endParaRPr sz="1000" b="0" i="0" dirty="0">
              <a:solidFill>
                <a:srgbClr val="2A3141"/>
              </a:solidFill>
              <a:latin typeface="Arial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063240" y="1645920"/>
            <a:ext cx="795528" cy="292608"/>
          </a:xfrm>
          <a:prstGeom prst="roundRect">
            <a:avLst/>
          </a:prstGeom>
          <a:solidFill>
            <a:srgbClr val="F7E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36392" y="1682496"/>
            <a:ext cx="649224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78A79"/>
                </a:solidFill>
                <a:latin typeface="Arial"/>
              </a:rPr>
              <a:t>Quick win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0831" y="1481328"/>
            <a:ext cx="3547872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0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535423" y="1645920"/>
            <a:ext cx="566928" cy="292608"/>
          </a:xfrm>
          <a:prstGeom prst="roundRect">
            <a:avLst/>
          </a:prstGeom>
          <a:solidFill>
            <a:srgbClr val="EAE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08575" y="1682496"/>
            <a:ext cx="420623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27DBB"/>
                </a:solidFill>
                <a:latin typeface="Arial"/>
              </a:rPr>
              <a:t>MK1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5423" y="2075688"/>
            <a:ext cx="3154680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02A44"/>
                </a:solidFill>
                <a:latin typeface="Arial"/>
              </a:rPr>
              <a:t>Tăng review sau mua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5423" y="2551176"/>
            <a:ext cx="21031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B7280"/>
                </a:solidFill>
                <a:latin typeface="Arial"/>
              </a:rPr>
              <a:t>MARKETING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5423" y="2798064"/>
            <a:ext cx="315468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dirty="0">
                <a:solidFill>
                  <a:srgbClr val="2A3141"/>
                </a:solidFill>
                <a:latin typeface="Arial"/>
              </a:rPr>
              <a:t>Review </a:t>
            </a:r>
            <a:r>
              <a:rPr sz="1000" b="0" i="0" dirty="0" err="1">
                <a:solidFill>
                  <a:srgbClr val="2A3141"/>
                </a:solidFill>
                <a:latin typeface="Arial"/>
              </a:rPr>
              <a:t>hợp</a:t>
            </a:r>
            <a:r>
              <a:rPr sz="1000" b="0" i="0" dirty="0">
                <a:solidFill>
                  <a:srgbClr val="2A3141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2A3141"/>
                </a:solidFill>
                <a:latin typeface="Arial"/>
              </a:rPr>
              <a:t>lệ</a:t>
            </a:r>
            <a:r>
              <a:rPr sz="1000" b="0" i="0" dirty="0">
                <a:solidFill>
                  <a:srgbClr val="2A3141"/>
                </a:solidFill>
                <a:latin typeface="Arial"/>
              </a:rPr>
              <a:t> / 100 </a:t>
            </a:r>
            <a:r>
              <a:rPr sz="1000" b="0" i="0" dirty="0" err="1">
                <a:solidFill>
                  <a:srgbClr val="2A3141"/>
                </a:solidFill>
                <a:latin typeface="Arial"/>
              </a:rPr>
              <a:t>đơn</a:t>
            </a:r>
            <a:endParaRPr sz="1000" b="0" i="0" dirty="0">
              <a:solidFill>
                <a:srgbClr val="2A3141"/>
              </a:solidFill>
              <a:latin typeface="Arial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885431" y="1645920"/>
            <a:ext cx="795528" cy="292608"/>
          </a:xfrm>
          <a:prstGeom prst="roundRect">
            <a:avLst/>
          </a:prstGeom>
          <a:solidFill>
            <a:srgbClr val="F7E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58583" y="1682496"/>
            <a:ext cx="649224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827DBB"/>
                </a:solidFill>
                <a:latin typeface="Arial"/>
              </a:rPr>
              <a:t>Quick win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93023" y="1481328"/>
            <a:ext cx="3547872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0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357615" y="1645920"/>
            <a:ext cx="566928" cy="292608"/>
          </a:xfrm>
          <a:prstGeom prst="roundRect">
            <a:avLst/>
          </a:prstGeom>
          <a:solidFill>
            <a:srgbClr val="F7E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30767" y="1682496"/>
            <a:ext cx="420623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18A56"/>
                </a:solidFill>
                <a:latin typeface="Arial"/>
              </a:rPr>
              <a:t>CM2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7615" y="2075688"/>
            <a:ext cx="3154680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02A44"/>
                </a:solidFill>
                <a:latin typeface="Arial"/>
              </a:rPr>
              <a:t>A/B test mức discount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7615" y="2551176"/>
            <a:ext cx="21031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B7280"/>
                </a:solidFill>
                <a:latin typeface="Arial"/>
              </a:rPr>
              <a:t>CATEGORY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7615" y="2798064"/>
            <a:ext cx="315468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dirty="0">
                <a:solidFill>
                  <a:srgbClr val="2A3141"/>
                </a:solidFill>
                <a:latin typeface="Arial"/>
              </a:rPr>
              <a:t>Revenue </a:t>
            </a:r>
            <a:r>
              <a:rPr sz="1000" b="0" i="0" dirty="0" err="1">
                <a:solidFill>
                  <a:srgbClr val="2A3141"/>
                </a:solidFill>
                <a:latin typeface="Arial"/>
              </a:rPr>
              <a:t>tăng</a:t>
            </a:r>
            <a:r>
              <a:rPr sz="1000" b="0" i="0" dirty="0">
                <a:solidFill>
                  <a:srgbClr val="2A3141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2A3141"/>
                </a:solidFill>
                <a:latin typeface="Arial"/>
              </a:rPr>
              <a:t>thêm</a:t>
            </a:r>
            <a:r>
              <a:rPr sz="1000" b="0" i="0" dirty="0">
                <a:solidFill>
                  <a:srgbClr val="2A3141"/>
                </a:solidFill>
                <a:latin typeface="Arial"/>
              </a:rPr>
              <a:t> + gross margin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707624" y="1645920"/>
            <a:ext cx="795528" cy="292608"/>
          </a:xfrm>
          <a:prstGeom prst="roundRect">
            <a:avLst/>
          </a:prstGeom>
          <a:solidFill>
            <a:srgbClr val="F7E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780776" y="1682496"/>
            <a:ext cx="649224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18A56"/>
                </a:solidFill>
                <a:latin typeface="Arial"/>
              </a:rPr>
              <a:t>Test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3602736"/>
            <a:ext cx="3547872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0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13232" y="3767328"/>
            <a:ext cx="566928" cy="292608"/>
          </a:xfrm>
          <a:prstGeom prst="roundRect">
            <a:avLst/>
          </a:prstGeom>
          <a:solidFill>
            <a:srgbClr val="EAE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86384" y="3803904"/>
            <a:ext cx="420623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8A64B"/>
                </a:solidFill>
                <a:latin typeface="Arial"/>
              </a:rPr>
              <a:t>MK2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4197096"/>
            <a:ext cx="3154680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02A44"/>
                </a:solidFill>
                <a:latin typeface="Arial"/>
              </a:rPr>
              <a:t>Cá nhân hóa nội dung quảng bá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4672583"/>
            <a:ext cx="21031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B7280"/>
                </a:solidFill>
                <a:latin typeface="Arial"/>
              </a:rPr>
              <a:t>MARKETING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" y="4919472"/>
            <a:ext cx="315468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dirty="0">
                <a:solidFill>
                  <a:srgbClr val="2A3141"/>
                </a:solidFill>
                <a:latin typeface="Arial"/>
              </a:rPr>
              <a:t>CTR • conversion • ROAS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063240" y="3767328"/>
            <a:ext cx="795528" cy="292608"/>
          </a:xfrm>
          <a:prstGeom prst="roundRect">
            <a:avLst/>
          </a:prstGeom>
          <a:solidFill>
            <a:srgbClr val="F7E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136392" y="3803904"/>
            <a:ext cx="649224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C8A64B"/>
                </a:solidFill>
                <a:latin typeface="Arial"/>
              </a:rPr>
              <a:t>Test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70831" y="3602736"/>
            <a:ext cx="3547872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0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4535423" y="3767328"/>
            <a:ext cx="566928" cy="292608"/>
          </a:xfrm>
          <a:prstGeom prst="roundRect">
            <a:avLst/>
          </a:prstGeom>
          <a:solidFill>
            <a:srgbClr val="EAE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608575" y="3803904"/>
            <a:ext cx="420623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78A79"/>
                </a:solidFill>
                <a:latin typeface="Arial"/>
              </a:rPr>
              <a:t>CM1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35423" y="4197096"/>
            <a:ext cx="3154680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02A44"/>
                </a:solidFill>
                <a:latin typeface="Arial"/>
              </a:rPr>
              <a:t>Tối ưu danh mục &amp; nhập hàng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35423" y="4672583"/>
            <a:ext cx="21031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B7280"/>
                </a:solidFill>
                <a:latin typeface="Arial"/>
              </a:rPr>
              <a:t>CATEGORY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35423" y="4919472"/>
            <a:ext cx="315468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dirty="0">
                <a:solidFill>
                  <a:srgbClr val="2A3141"/>
                </a:solidFill>
                <a:latin typeface="Arial"/>
              </a:rPr>
              <a:t>Revenue/book • stock-out • margin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85431" y="3767328"/>
            <a:ext cx="795528" cy="292608"/>
          </a:xfrm>
          <a:prstGeom prst="roundRect">
            <a:avLst/>
          </a:prstGeom>
          <a:solidFill>
            <a:srgbClr val="F7E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958583" y="3803904"/>
            <a:ext cx="649224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78A79"/>
                </a:solidFill>
                <a:latin typeface="Arial"/>
              </a:rPr>
              <a:t>Build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93023" y="3602736"/>
            <a:ext cx="3547872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0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8357615" y="3767328"/>
            <a:ext cx="566928" cy="292608"/>
          </a:xfrm>
          <a:prstGeom prst="roundRect">
            <a:avLst/>
          </a:prstGeom>
          <a:solidFill>
            <a:srgbClr val="EAE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430767" y="3803904"/>
            <a:ext cx="420623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27DBB"/>
                </a:solidFill>
                <a:latin typeface="Arial"/>
              </a:rPr>
              <a:t>BL1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57615" y="4197096"/>
            <a:ext cx="3154680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02A44"/>
                </a:solidFill>
                <a:latin typeface="Arial"/>
              </a:rPr>
              <a:t>Dashboard quản trị Bestseller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57615" y="4672583"/>
            <a:ext cx="21031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B7280"/>
                </a:solidFill>
                <a:latin typeface="Arial"/>
              </a:rPr>
              <a:t>BAN LÃNH ĐẠO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57615" y="4919472"/>
            <a:ext cx="315468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dirty="0">
                <a:solidFill>
                  <a:srgbClr val="2A3141"/>
                </a:solidFill>
                <a:latin typeface="Arial"/>
              </a:rPr>
              <a:t>ROI • KPI • model health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707624" y="3767328"/>
            <a:ext cx="795528" cy="292608"/>
          </a:xfrm>
          <a:prstGeom prst="roundRect">
            <a:avLst/>
          </a:prstGeom>
          <a:solidFill>
            <a:srgbClr val="F7E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780776" y="3803904"/>
            <a:ext cx="649224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827DBB"/>
                </a:solidFill>
                <a:latin typeface="Arial"/>
              </a:rPr>
              <a:t>Enable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18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8346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96B35"/>
                </a:solidFill>
                <a:latin typeface="Arial"/>
              </a:rPr>
              <a:t>13 • PRIORITY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02A44"/>
                </a:solidFill>
                <a:latin typeface="Arial"/>
              </a:rPr>
              <a:t>Ưu tiên triển khai: quick wins trước, hệ thống hóa sau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05840"/>
            <a:ext cx="1106424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dirty="0" err="1">
                <a:solidFill>
                  <a:srgbClr val="6B7280"/>
                </a:solidFill>
                <a:latin typeface="Arial"/>
              </a:rPr>
              <a:t>Thứ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tự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theo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kế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hoạch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Task 10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dựa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trên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tác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động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kỳ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vọng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,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tính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khả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thi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và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khả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năng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đo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lường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—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không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phải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lợi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nhuận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đã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được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chứng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Arial"/>
              </a:rPr>
              <a:t>minh</a:t>
            </a:r>
            <a:r>
              <a:rPr sz="1000" b="0" i="0" dirty="0">
                <a:solidFill>
                  <a:srgbClr val="6B7280"/>
                </a:solidFill>
                <a:latin typeface="Arial"/>
              </a:rPr>
              <a:t>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8890">
            <a:solidFill>
              <a:srgbClr val="E7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21207" y="6565392"/>
            <a:ext cx="45720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B7280"/>
                </a:solidFill>
                <a:latin typeface="Arial"/>
              </a:rPr>
              <a:t>TADA BOOK ANALYTICS  •  TASK 6–10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56248"/>
            <a:ext cx="8229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B7280"/>
                </a:solidFill>
                <a:latin typeface="Arial"/>
              </a:rPr>
              <a:t>14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517904"/>
            <a:ext cx="10058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B7280"/>
                </a:solidFill>
                <a:latin typeface="Arial"/>
              </a:rPr>
              <a:t>THỨ TỰ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517904"/>
            <a:ext cx="50292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B7280"/>
                </a:solidFill>
                <a:latin typeface="Arial"/>
              </a:rPr>
              <a:t>SÁNG KIẾN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517904"/>
            <a:ext cx="10972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B7280"/>
                </a:solidFill>
                <a:latin typeface="Arial"/>
              </a:rPr>
              <a:t>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1517904"/>
            <a:ext cx="12801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B7280"/>
                </a:solidFill>
                <a:latin typeface="Arial"/>
              </a:rPr>
              <a:t>EFFORT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1517904"/>
            <a:ext cx="15087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B7280"/>
                </a:solidFill>
                <a:latin typeface="Arial"/>
              </a:rPr>
              <a:t>VÌ SAO Ở VỊ TRÍ NÀY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1755648"/>
            <a:ext cx="10991088" cy="5852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0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94944" y="1865376"/>
            <a:ext cx="438912" cy="292608"/>
          </a:xfrm>
          <a:prstGeom prst="roundRect">
            <a:avLst/>
          </a:prstGeom>
          <a:solidFill>
            <a:srgbClr val="EAE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8096" y="1901952"/>
            <a:ext cx="292607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04C91"/>
                </a:solidFill>
                <a:latin typeface="Arial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1865376"/>
            <a:ext cx="50292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78A79"/>
                </a:solidFill>
                <a:latin typeface="Arial"/>
              </a:rPr>
              <a:t>CS1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1865376"/>
            <a:ext cx="50749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02A44"/>
                </a:solidFill>
                <a:latin typeface="Arial"/>
              </a:rPr>
              <a:t>Bộ tư vấn sách dựa trên dữ liệu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33488" y="1865376"/>
            <a:ext cx="731520" cy="292608"/>
          </a:xfrm>
          <a:prstGeom prst="roundRect">
            <a:avLst/>
          </a:prstGeom>
          <a:solidFill>
            <a:srgbClr val="F7E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06640" y="1901952"/>
            <a:ext cx="585216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96B35"/>
                </a:solidFill>
                <a:latin typeface="Arial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05672" y="1865376"/>
            <a:ext cx="10058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A3141"/>
                </a:solidFill>
                <a:latin typeface="Arial"/>
              </a:rPr>
              <a:t>Thấp–TB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1819656"/>
            <a:ext cx="1463040" cy="3139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dirty="0" err="1">
                <a:solidFill>
                  <a:srgbClr val="6B7280"/>
                </a:solidFill>
                <a:latin typeface="Arial"/>
              </a:rPr>
              <a:t>Dùng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dữ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liệu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sẵn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có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;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hỗ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trợ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 conversion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trực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tiếp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944" y="2523744"/>
            <a:ext cx="438912" cy="292608"/>
          </a:xfrm>
          <a:prstGeom prst="roundRect">
            <a:avLst/>
          </a:prstGeom>
          <a:solidFill>
            <a:srgbClr val="EAE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8096" y="2560320"/>
            <a:ext cx="292607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04C91"/>
                </a:solidFill>
                <a:latin typeface="Arial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2523744"/>
            <a:ext cx="50292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27DBB"/>
                </a:solidFill>
                <a:latin typeface="Arial"/>
              </a:rPr>
              <a:t>MK1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2523744"/>
            <a:ext cx="50749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02A44"/>
                </a:solidFill>
                <a:latin typeface="Arial"/>
              </a:rPr>
              <a:t>Quy trình mời đánh giá sau mua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33488" y="2523744"/>
            <a:ext cx="731520" cy="292608"/>
          </a:xfrm>
          <a:prstGeom prst="roundRect">
            <a:avLst/>
          </a:prstGeom>
          <a:solidFill>
            <a:srgbClr val="F7E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06640" y="2560320"/>
            <a:ext cx="585216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96B35"/>
                </a:solidFill>
                <a:latin typeface="Arial"/>
              </a:rPr>
              <a:t>HIGH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05672" y="2523744"/>
            <a:ext cx="10058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A3141"/>
                </a:solidFill>
                <a:latin typeface="Arial"/>
              </a:rPr>
              <a:t>Thấp–TB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2478024"/>
            <a:ext cx="1463040" cy="4524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dirty="0" err="1">
                <a:solidFill>
                  <a:srgbClr val="6B7280"/>
                </a:solidFill>
                <a:latin typeface="Arial"/>
              </a:rPr>
              <a:t>Khởi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động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nhanh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 qua CRM/notification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và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 A/B test.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3072384"/>
            <a:ext cx="10991088" cy="5852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0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94944" y="3182112"/>
            <a:ext cx="438912" cy="292608"/>
          </a:xfrm>
          <a:prstGeom prst="roundRect">
            <a:avLst/>
          </a:prstGeom>
          <a:solidFill>
            <a:srgbClr val="EAE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68096" y="3218688"/>
            <a:ext cx="292607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04C91"/>
                </a:solidFill>
                <a:latin typeface="Arial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3182112"/>
            <a:ext cx="50292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18A56"/>
                </a:solidFill>
                <a:latin typeface="Arial"/>
              </a:rPr>
              <a:t>CM2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74519" y="3182112"/>
            <a:ext cx="50749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02A44"/>
                </a:solidFill>
                <a:latin typeface="Arial"/>
              </a:rPr>
              <a:t>Thử nghiệm chiến lược discount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33488" y="3182112"/>
            <a:ext cx="731520" cy="292608"/>
          </a:xfrm>
          <a:prstGeom prst="roundRect">
            <a:avLst/>
          </a:prstGeom>
          <a:solidFill>
            <a:srgbClr val="F7E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06640" y="3218688"/>
            <a:ext cx="585216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96B35"/>
                </a:solidFill>
                <a:latin typeface="Arial"/>
              </a:rPr>
              <a:t>HIGH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05672" y="3182112"/>
            <a:ext cx="10058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A3141"/>
                </a:solidFill>
                <a:latin typeface="Arial"/>
              </a:rPr>
              <a:t>Trung bình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66960" y="3136392"/>
            <a:ext cx="1463040" cy="3139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dirty="0" err="1">
                <a:solidFill>
                  <a:srgbClr val="6B7280"/>
                </a:solidFill>
                <a:latin typeface="Arial"/>
              </a:rPr>
              <a:t>Cần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đối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chứng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và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kiểm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soát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biên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lợi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nhuận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4944" y="3840480"/>
            <a:ext cx="438912" cy="292608"/>
          </a:xfrm>
          <a:prstGeom prst="roundRect">
            <a:avLst/>
          </a:prstGeom>
          <a:solidFill>
            <a:srgbClr val="EAE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68096" y="3877056"/>
            <a:ext cx="292607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04C91"/>
                </a:solidFill>
                <a:latin typeface="Arial"/>
              </a:rPr>
              <a:t>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25880" y="3840480"/>
            <a:ext cx="50292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8A64B"/>
                </a:solidFill>
                <a:latin typeface="Arial"/>
              </a:rPr>
              <a:t>MK2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74519" y="3840480"/>
            <a:ext cx="50749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02A44"/>
                </a:solidFill>
                <a:latin typeface="Arial"/>
              </a:rPr>
              <a:t>Cá nhân hóa nội dung marketing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33488" y="3840480"/>
            <a:ext cx="731520" cy="292608"/>
          </a:xfrm>
          <a:prstGeom prst="roundRect">
            <a:avLst/>
          </a:prstGeom>
          <a:solidFill>
            <a:srgbClr val="F7E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406640" y="3877056"/>
            <a:ext cx="585216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96B35"/>
                </a:solidFill>
                <a:latin typeface="Arial"/>
              </a:rPr>
              <a:t>HIGH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05672" y="3840480"/>
            <a:ext cx="10058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A3141"/>
                </a:solidFill>
                <a:latin typeface="Arial"/>
              </a:rPr>
              <a:t>Trung bình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66960" y="3794760"/>
            <a:ext cx="1463040" cy="3139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dirty="0" err="1">
                <a:solidFill>
                  <a:srgbClr val="6B7280"/>
                </a:solidFill>
                <a:latin typeface="Arial"/>
              </a:rPr>
              <a:t>Thử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nghiệm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 creative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theo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nhóm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sách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và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phân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khúc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6928" y="4389120"/>
            <a:ext cx="10991088" cy="5852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0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694944" y="4498848"/>
            <a:ext cx="438912" cy="292608"/>
          </a:xfrm>
          <a:prstGeom prst="roundRect">
            <a:avLst/>
          </a:prstGeom>
          <a:solidFill>
            <a:srgbClr val="EAE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68096" y="4535424"/>
            <a:ext cx="292607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04C91"/>
                </a:solidFill>
                <a:latin typeface="Arial"/>
              </a:rPr>
              <a:t>05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25880" y="4498848"/>
            <a:ext cx="50292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78A79"/>
                </a:solidFill>
                <a:latin typeface="Arial"/>
              </a:rPr>
              <a:t>CM1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874519" y="4498848"/>
            <a:ext cx="50749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02A44"/>
                </a:solidFill>
                <a:latin typeface="Arial"/>
              </a:rPr>
              <a:t>Tối ưu danh mục &amp; ưu tiên nhập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33488" y="4498848"/>
            <a:ext cx="731520" cy="292608"/>
          </a:xfrm>
          <a:prstGeom prst="roundRect">
            <a:avLst/>
          </a:prstGeom>
          <a:solidFill>
            <a:srgbClr val="F7E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406640" y="4535424"/>
            <a:ext cx="585216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96B35"/>
                </a:solidFill>
                <a:latin typeface="Arial"/>
              </a:rPr>
              <a:t>HIGH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05672" y="4498848"/>
            <a:ext cx="10058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A3141"/>
                </a:solidFill>
                <a:latin typeface="Arial"/>
              </a:rPr>
              <a:t>Trung bình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66960" y="4453128"/>
            <a:ext cx="1463040" cy="3139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dirty="0" err="1">
                <a:solidFill>
                  <a:srgbClr val="6B7280"/>
                </a:solidFill>
                <a:latin typeface="Arial"/>
              </a:rPr>
              <a:t>Cần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phối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hợp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danh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mục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,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tồn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kho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và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 margin.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94944" y="5157216"/>
            <a:ext cx="438912" cy="292608"/>
          </a:xfrm>
          <a:prstGeom prst="roundRect">
            <a:avLst/>
          </a:prstGeom>
          <a:solidFill>
            <a:srgbClr val="EAE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68096" y="5193792"/>
            <a:ext cx="292607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04C91"/>
                </a:solidFill>
                <a:latin typeface="Arial"/>
              </a:rPr>
              <a:t>06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25880" y="5157216"/>
            <a:ext cx="50292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27DBB"/>
                </a:solidFill>
                <a:latin typeface="Arial"/>
              </a:rPr>
              <a:t>BL1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874519" y="5157216"/>
            <a:ext cx="50749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02A44"/>
                </a:solidFill>
                <a:latin typeface="Arial"/>
              </a:rPr>
              <a:t>Dashboard quản trị &amp; model monitoring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333488" y="5157216"/>
            <a:ext cx="731520" cy="292608"/>
          </a:xfrm>
          <a:prstGeom prst="roundRect">
            <a:avLst/>
          </a:prstGeom>
          <a:solidFill>
            <a:srgbClr val="F7E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406640" y="5193792"/>
            <a:ext cx="585216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96B35"/>
                </a:solidFill>
                <a:latin typeface="Arial"/>
              </a:rPr>
              <a:t>HIGH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05672" y="5157216"/>
            <a:ext cx="10058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A3141"/>
                </a:solidFill>
                <a:latin typeface="Arial"/>
              </a:rPr>
              <a:t>Trung bình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966960" y="5111496"/>
            <a:ext cx="1463040" cy="3139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dirty="0" err="1">
                <a:solidFill>
                  <a:srgbClr val="6B7280"/>
                </a:solidFill>
                <a:latin typeface="Arial"/>
              </a:rPr>
              <a:t>Tác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động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cấp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tổ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chức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;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cần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 governance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và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quy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6B7280"/>
                </a:solidFill>
                <a:latin typeface="Arial"/>
              </a:rPr>
              <a:t>trình</a:t>
            </a:r>
            <a:r>
              <a:rPr sz="900" b="0" i="0" dirty="0">
                <a:solidFill>
                  <a:srgbClr val="6B7280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18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8346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96B35"/>
                </a:solidFill>
                <a:latin typeface="Arial"/>
              </a:rPr>
              <a:t>14 • PORTFOLIO OF INITIATIVES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02A44"/>
                </a:solidFill>
                <a:latin typeface="Arial"/>
              </a:rPr>
              <a:t>Ma trận Impact × Effort: giữ trọng tâm vào tác động đo được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05840"/>
            <a:ext cx="1106424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Arial"/>
              </a:rPr>
              <a:t>Các sáng kiến đều có impact kỳ vọng cao; phân biệt nhau chủ yếu ở effort và phụ thuộc triển khai.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8890">
            <a:solidFill>
              <a:srgbClr val="E7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21207" y="6565392"/>
            <a:ext cx="45720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B7280"/>
                </a:solidFill>
                <a:latin typeface="Arial"/>
              </a:rPr>
              <a:t>TADA BOOK ANALYTICS  •  TASK 6–10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56248"/>
            <a:ext cx="8229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B7280"/>
                </a:solidFill>
                <a:latin typeface="Arial"/>
              </a:rPr>
              <a:t>15 / 18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1572768"/>
            <a:ext cx="6400800" cy="4251960"/>
          </a:xfrm>
          <a:prstGeom prst="rect">
            <a:avLst/>
          </a:prstGeom>
          <a:solidFill>
            <a:srgbClr val="FBFCFE"/>
          </a:solidFill>
          <a:ln w="1016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4160520" y="1572768"/>
            <a:ext cx="0" cy="4251960"/>
          </a:xfrm>
          <a:prstGeom prst="line">
            <a:avLst/>
          </a:prstGeom>
          <a:ln w="12700">
            <a:solidFill>
              <a:srgbClr val="D9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60120" y="3698748"/>
            <a:ext cx="6400800" cy="0"/>
          </a:xfrm>
          <a:prstGeom prst="line">
            <a:avLst/>
          </a:prstGeom>
          <a:ln w="12700">
            <a:solidFill>
              <a:srgbClr val="D9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143000" y="5468112"/>
            <a:ext cx="14630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B7280"/>
                </a:solidFill>
                <a:latin typeface="Arial"/>
              </a:rPr>
              <a:t>LOW EFFORT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5468112"/>
            <a:ext cx="1554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B7280"/>
                </a:solidFill>
                <a:latin typeface="Arial"/>
              </a:rPr>
              <a:t>HIGHER EFFORT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" y="1828800"/>
            <a:ext cx="7315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96B35"/>
                </a:solidFill>
                <a:latin typeface="Arial"/>
              </a:rPr>
              <a:t>HIGH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" y="4572000"/>
            <a:ext cx="7315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B7280"/>
                </a:solidFill>
                <a:latin typeface="Arial"/>
              </a:rPr>
              <a:t>LOW IMPACT</a:t>
            </a:r>
          </a:p>
        </p:txBody>
      </p:sp>
      <p:sp>
        <p:nvSpPr>
          <p:cNvPr id="16" name="Oval 15"/>
          <p:cNvSpPr/>
          <p:nvPr/>
        </p:nvSpPr>
        <p:spPr>
          <a:xfrm>
            <a:off x="1508760" y="2148840"/>
            <a:ext cx="420624" cy="420624"/>
          </a:xfrm>
          <a:prstGeom prst="ellipse">
            <a:avLst/>
          </a:prstGeom>
          <a:solidFill>
            <a:srgbClr val="278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99031" y="2615184"/>
            <a:ext cx="658368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02A44"/>
                </a:solidFill>
                <a:latin typeface="Arial"/>
              </a:rPr>
              <a:t>CS1</a:t>
            </a:r>
          </a:p>
        </p:txBody>
      </p:sp>
      <p:sp>
        <p:nvSpPr>
          <p:cNvPr id="18" name="Oval 17"/>
          <p:cNvSpPr/>
          <p:nvPr/>
        </p:nvSpPr>
        <p:spPr>
          <a:xfrm>
            <a:off x="2423160" y="2560320"/>
            <a:ext cx="420624" cy="420624"/>
          </a:xfrm>
          <a:prstGeom prst="ellipse">
            <a:avLst/>
          </a:prstGeom>
          <a:solidFill>
            <a:srgbClr val="827D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313432" y="3026663"/>
            <a:ext cx="658368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02A44"/>
                </a:solidFill>
                <a:latin typeface="Arial"/>
              </a:rPr>
              <a:t>MK1</a:t>
            </a:r>
          </a:p>
        </p:txBody>
      </p:sp>
      <p:sp>
        <p:nvSpPr>
          <p:cNvPr id="20" name="Oval 19"/>
          <p:cNvSpPr/>
          <p:nvPr/>
        </p:nvSpPr>
        <p:spPr>
          <a:xfrm>
            <a:off x="4251960" y="2029968"/>
            <a:ext cx="420624" cy="420624"/>
          </a:xfrm>
          <a:prstGeom prst="ellipse">
            <a:avLst/>
          </a:prstGeom>
          <a:solidFill>
            <a:srgbClr val="F18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42232" y="2496312"/>
            <a:ext cx="658368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02A44"/>
                </a:solidFill>
                <a:latin typeface="Arial"/>
              </a:rPr>
              <a:t>CM2</a:t>
            </a:r>
          </a:p>
        </p:txBody>
      </p:sp>
      <p:sp>
        <p:nvSpPr>
          <p:cNvPr id="22" name="Oval 21"/>
          <p:cNvSpPr/>
          <p:nvPr/>
        </p:nvSpPr>
        <p:spPr>
          <a:xfrm>
            <a:off x="5074920" y="2788920"/>
            <a:ext cx="420624" cy="420624"/>
          </a:xfrm>
          <a:prstGeom prst="ellipse">
            <a:avLst/>
          </a:prstGeom>
          <a:solidFill>
            <a:srgbClr val="C8A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65192" y="3255263"/>
            <a:ext cx="658368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02A44"/>
                </a:solidFill>
                <a:latin typeface="Arial"/>
              </a:rPr>
              <a:t>MK2</a:t>
            </a:r>
          </a:p>
        </p:txBody>
      </p:sp>
      <p:sp>
        <p:nvSpPr>
          <p:cNvPr id="24" name="Oval 23"/>
          <p:cNvSpPr/>
          <p:nvPr/>
        </p:nvSpPr>
        <p:spPr>
          <a:xfrm>
            <a:off x="5394960" y="1828800"/>
            <a:ext cx="420624" cy="420624"/>
          </a:xfrm>
          <a:prstGeom prst="ellipse">
            <a:avLst/>
          </a:prstGeom>
          <a:solidFill>
            <a:srgbClr val="278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85232" y="2295144"/>
            <a:ext cx="658368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02A44"/>
                </a:solidFill>
                <a:latin typeface="Arial"/>
              </a:rPr>
              <a:t>CM1</a:t>
            </a:r>
          </a:p>
        </p:txBody>
      </p:sp>
      <p:sp>
        <p:nvSpPr>
          <p:cNvPr id="26" name="Oval 25"/>
          <p:cNvSpPr/>
          <p:nvPr/>
        </p:nvSpPr>
        <p:spPr>
          <a:xfrm>
            <a:off x="5989320" y="3291840"/>
            <a:ext cx="420624" cy="420624"/>
          </a:xfrm>
          <a:prstGeom prst="ellipse">
            <a:avLst/>
          </a:prstGeom>
          <a:solidFill>
            <a:srgbClr val="827D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879592" y="3758184"/>
            <a:ext cx="658368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02A44"/>
                </a:solidFill>
                <a:latin typeface="Arial"/>
              </a:rPr>
              <a:t>BL1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26679" y="1627632"/>
            <a:ext cx="3822191" cy="4114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0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991856" y="1883664"/>
            <a:ext cx="301752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96B35"/>
                </a:solidFill>
                <a:latin typeface="Arial"/>
              </a:rPr>
              <a:t>CÁCH ĐỌC MA TRẬN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91856" y="2304288"/>
            <a:ext cx="347472" cy="292608"/>
          </a:xfrm>
          <a:prstGeom prst="roundRect">
            <a:avLst/>
          </a:prstGeom>
          <a:solidFill>
            <a:srgbClr val="F7E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65008" y="2340864"/>
            <a:ext cx="201168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78A79"/>
                </a:solidFill>
                <a:latin typeface="Arial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2304288"/>
            <a:ext cx="256032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02A44"/>
                </a:solidFill>
                <a:latin typeface="Arial"/>
              </a:rPr>
              <a:t>Quick wins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2587752"/>
            <a:ext cx="2697480" cy="4846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3141"/>
                </a:solidFill>
                <a:latin typeface="Arial"/>
              </a:rPr>
              <a:t>CS1, MK1: chạy pilot sớm bằng quy trình và dữ liệu hiện có.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91856" y="3273552"/>
            <a:ext cx="347472" cy="292608"/>
          </a:xfrm>
          <a:prstGeom prst="roundRect">
            <a:avLst/>
          </a:prstGeom>
          <a:solidFill>
            <a:srgbClr val="F7E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065008" y="3310128"/>
            <a:ext cx="201168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18A56"/>
                </a:solidFill>
                <a:latin typeface="Arial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3273552"/>
            <a:ext cx="256032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02A44"/>
                </a:solidFill>
                <a:latin typeface="Arial"/>
              </a:rPr>
              <a:t>Controlled tests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3557016"/>
            <a:ext cx="2697480" cy="4846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3141"/>
                </a:solidFill>
                <a:latin typeface="Arial"/>
              </a:rPr>
              <a:t>CM2, MK2: thử nghiệm có đối chứng; có guardrail gross margin.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91856" y="4242816"/>
            <a:ext cx="347472" cy="292608"/>
          </a:xfrm>
          <a:prstGeom prst="roundRect">
            <a:avLst/>
          </a:prstGeom>
          <a:solidFill>
            <a:srgbClr val="F7E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065008" y="4279392"/>
            <a:ext cx="201168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27DBB"/>
                </a:solidFill>
                <a:latin typeface="Arial"/>
              </a:rP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4242816"/>
            <a:ext cx="256032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02A44"/>
                </a:solidFill>
                <a:latin typeface="Arial"/>
              </a:rPr>
              <a:t>Foundational capability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4526279"/>
            <a:ext cx="2697480" cy="4846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3141"/>
                </a:solidFill>
                <a:latin typeface="Arial"/>
              </a:rPr>
              <a:t>CM1, BL1: phối hợp danh mục/nguồn cung và dashboard quản trị.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5998464"/>
            <a:ext cx="107899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6B7280"/>
                </a:solidFill>
                <a:latin typeface="Arial"/>
              </a:rPr>
              <a:t>Vị trí là ước lượng planning của nhóm dự án, cần hiệu chỉnh theo nguồn lực và hệ thống thực tế.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18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8346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96B35"/>
                </a:solidFill>
                <a:latin typeface="Arial"/>
              </a:rPr>
              <a:t>15 • 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02A44"/>
                </a:solidFill>
                <a:latin typeface="Arial"/>
              </a:rPr>
              <a:t>Kế hoạch triển khai 12 tuần: baseline → pilot → đo lường →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05840"/>
            <a:ext cx="11064240" cy="1985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 dirty="0" err="1">
                <a:solidFill>
                  <a:srgbClr val="6B7280"/>
                </a:solidFill>
                <a:latin typeface="Arial"/>
              </a:rPr>
              <a:t>Đề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xuất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triển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khai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theo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cổng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quyết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định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;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chỉ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mở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rộng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sáng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kiến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đạt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KPI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và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không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làm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Arial"/>
              </a:rPr>
              <a:t>giảm</a:t>
            </a:r>
            <a:r>
              <a:rPr sz="1050" b="0" i="0" dirty="0">
                <a:solidFill>
                  <a:srgbClr val="6B7280"/>
                </a:solidFill>
                <a:latin typeface="Arial"/>
              </a:rPr>
              <a:t> gross margin.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8890">
            <a:solidFill>
              <a:srgbClr val="E7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21207" y="6565392"/>
            <a:ext cx="45720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B7280"/>
                </a:solidFill>
                <a:latin typeface="Arial"/>
              </a:rPr>
              <a:t>TADA BOOK ANALYTICS  •  TASK 6–10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56248"/>
            <a:ext cx="8229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B7280"/>
                </a:solidFill>
                <a:latin typeface="Arial"/>
              </a:rPr>
              <a:t>16 /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664208"/>
            <a:ext cx="2615184" cy="2852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0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664208"/>
            <a:ext cx="2615184" cy="109728"/>
          </a:xfrm>
          <a:prstGeom prst="rect">
            <a:avLst/>
          </a:prstGeom>
          <a:solidFill>
            <a:srgbClr val="827D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" y="1920240"/>
            <a:ext cx="1143000" cy="292608"/>
          </a:xfrm>
          <a:prstGeom prst="roundRect">
            <a:avLst/>
          </a:prstGeom>
          <a:solidFill>
            <a:srgbClr val="EAE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1956816"/>
            <a:ext cx="996696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827DBB"/>
                </a:solidFill>
                <a:latin typeface="Arial"/>
              </a:rPr>
              <a:t>0–4 TUẦN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404872"/>
            <a:ext cx="219456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02A44"/>
                </a:solidFill>
                <a:latin typeface="Arial"/>
              </a:rPr>
              <a:t>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44368"/>
            <a:ext cx="2240280" cy="74481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just">
              <a:spcAft>
                <a:spcPts val="600"/>
              </a:spcAft>
              <a:defRPr sz="900">
                <a:solidFill>
                  <a:srgbClr val="2A3141"/>
                </a:solidFill>
                <a:latin typeface="Arial"/>
              </a:defRPr>
            </a:pPr>
            <a:r>
              <a:rPr sz="1200" dirty="0"/>
              <a:t>•  </a:t>
            </a:r>
            <a:r>
              <a:rPr sz="1200" dirty="0" err="1"/>
              <a:t>Chuẩn</a:t>
            </a:r>
            <a:r>
              <a:rPr sz="1200" dirty="0"/>
              <a:t> </a:t>
            </a:r>
            <a:r>
              <a:rPr sz="1200" dirty="0" err="1"/>
              <a:t>hóa</a:t>
            </a:r>
            <a:r>
              <a:rPr sz="1200" dirty="0"/>
              <a:t> </a:t>
            </a:r>
            <a:r>
              <a:rPr sz="1200" dirty="0" err="1"/>
              <a:t>định</a:t>
            </a:r>
            <a:r>
              <a:rPr sz="1200" dirty="0"/>
              <a:t> </a:t>
            </a:r>
            <a:r>
              <a:rPr sz="1200" dirty="0" err="1"/>
              <a:t>nghĩa</a:t>
            </a:r>
            <a:r>
              <a:rPr sz="1200" dirty="0"/>
              <a:t> KPI</a:t>
            </a:r>
          </a:p>
          <a:p>
            <a:pPr algn="just">
              <a:spcAft>
                <a:spcPts val="600"/>
              </a:spcAft>
              <a:defRPr sz="900">
                <a:solidFill>
                  <a:srgbClr val="2A3141"/>
                </a:solidFill>
                <a:latin typeface="Arial"/>
              </a:defRPr>
            </a:pPr>
            <a:r>
              <a:rPr sz="1200" dirty="0"/>
              <a:t>•  </a:t>
            </a:r>
            <a:r>
              <a:rPr sz="1200" dirty="0" err="1"/>
              <a:t>Tạo</a:t>
            </a:r>
            <a:r>
              <a:rPr sz="1200" dirty="0"/>
              <a:t> baseline / </a:t>
            </a:r>
            <a:r>
              <a:rPr sz="1200" dirty="0" err="1"/>
              <a:t>đối</a:t>
            </a:r>
            <a:r>
              <a:rPr sz="1200" dirty="0"/>
              <a:t> </a:t>
            </a:r>
            <a:r>
              <a:rPr sz="1200" dirty="0" err="1"/>
              <a:t>chứng</a:t>
            </a:r>
            <a:endParaRPr sz="1200" dirty="0"/>
          </a:p>
          <a:p>
            <a:pPr algn="just">
              <a:spcAft>
                <a:spcPts val="600"/>
              </a:spcAft>
              <a:defRPr sz="900">
                <a:solidFill>
                  <a:srgbClr val="2A3141"/>
                </a:solidFill>
                <a:latin typeface="Arial"/>
              </a:defRPr>
            </a:pPr>
            <a:r>
              <a:rPr sz="1200" dirty="0"/>
              <a:t>•  Hoàn </a:t>
            </a:r>
            <a:r>
              <a:rPr sz="1200" dirty="0" err="1"/>
              <a:t>thiện</a:t>
            </a:r>
            <a:r>
              <a:rPr sz="1200" dirty="0"/>
              <a:t> shortlist </a:t>
            </a:r>
            <a:r>
              <a:rPr sz="1200" dirty="0" err="1"/>
              <a:t>tư</a:t>
            </a:r>
            <a:r>
              <a:rPr sz="1200" dirty="0"/>
              <a:t> </a:t>
            </a:r>
            <a:r>
              <a:rPr sz="1200" dirty="0" err="1"/>
              <a:t>vấn</a:t>
            </a:r>
            <a:endParaRPr sz="1200" dirty="0"/>
          </a:p>
        </p:txBody>
      </p:sp>
      <p:sp>
        <p:nvSpPr>
          <p:cNvPr id="15" name="TextBox 14"/>
          <p:cNvSpPr txBox="1"/>
          <p:nvPr/>
        </p:nvSpPr>
        <p:spPr>
          <a:xfrm>
            <a:off x="3200400" y="2834640"/>
            <a:ext cx="219456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D96B35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56432" y="1664208"/>
            <a:ext cx="2615184" cy="2852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0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456432" y="1664208"/>
            <a:ext cx="2615184" cy="109728"/>
          </a:xfrm>
          <a:prstGeom prst="rect">
            <a:avLst/>
          </a:prstGeom>
          <a:solidFill>
            <a:srgbClr val="F18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621024" y="1920240"/>
            <a:ext cx="1143000" cy="292608"/>
          </a:xfrm>
          <a:prstGeom prst="roundRect">
            <a:avLst/>
          </a:prstGeom>
          <a:solidFill>
            <a:srgbClr val="F7E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94176" y="1956816"/>
            <a:ext cx="996696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18A56"/>
                </a:solidFill>
                <a:latin typeface="Arial"/>
              </a:rPr>
              <a:t>4–8 TUẦN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21024" y="2404872"/>
            <a:ext cx="219456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02A44"/>
                </a:solidFill>
                <a:latin typeface="Arial"/>
              </a:rPr>
              <a:t>PILOT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21024" y="2944368"/>
            <a:ext cx="2240280" cy="929485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just">
              <a:spcAft>
                <a:spcPts val="600"/>
              </a:spcAft>
              <a:defRPr sz="900">
                <a:solidFill>
                  <a:srgbClr val="2A3141"/>
                </a:solidFill>
                <a:latin typeface="Arial"/>
              </a:defRPr>
            </a:pPr>
            <a:r>
              <a:rPr sz="1200"/>
              <a:t>•  CS1: tư vấn dữ liệu</a:t>
            </a:r>
          </a:p>
          <a:p>
            <a:pPr algn="just">
              <a:spcAft>
                <a:spcPts val="600"/>
              </a:spcAft>
              <a:defRPr sz="900">
                <a:solidFill>
                  <a:srgbClr val="2A3141"/>
                </a:solidFill>
                <a:latin typeface="Arial"/>
              </a:defRPr>
            </a:pPr>
            <a:r>
              <a:rPr sz="1200"/>
              <a:t>•  MK1: post-purchase review</a:t>
            </a:r>
          </a:p>
          <a:p>
            <a:pPr algn="just">
              <a:spcAft>
                <a:spcPts val="600"/>
              </a:spcAft>
              <a:defRPr sz="900">
                <a:solidFill>
                  <a:srgbClr val="2A3141"/>
                </a:solidFill>
                <a:latin typeface="Arial"/>
              </a:defRPr>
            </a:pPr>
            <a:r>
              <a:rPr sz="1200"/>
              <a:t>•  CM2 / MK2: thử nghiệm giới hạn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9904" y="2834640"/>
            <a:ext cx="219456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D96B35"/>
                </a:solidFill>
                <a:latin typeface="Arial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45936" y="1664208"/>
            <a:ext cx="2615184" cy="2852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0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345936" y="1664208"/>
            <a:ext cx="2615184" cy="109728"/>
          </a:xfrm>
          <a:prstGeom prst="rect">
            <a:avLst/>
          </a:prstGeom>
          <a:solidFill>
            <a:srgbClr val="278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510528" y="1920240"/>
            <a:ext cx="1143000" cy="292608"/>
          </a:xfrm>
          <a:prstGeom prst="roundRect">
            <a:avLst/>
          </a:prstGeom>
          <a:solidFill>
            <a:srgbClr val="EAE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0" y="1956816"/>
            <a:ext cx="996696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78A79"/>
                </a:solidFill>
                <a:latin typeface="Arial"/>
              </a:rPr>
              <a:t>8–12 TUẦN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8" y="2404872"/>
            <a:ext cx="219456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02A44"/>
                </a:solidFill>
                <a:latin typeface="Arial"/>
              </a:rPr>
              <a:t>MEASURE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2944368"/>
            <a:ext cx="2240280" cy="129881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just">
              <a:spcAft>
                <a:spcPts val="600"/>
              </a:spcAft>
              <a:defRPr sz="900">
                <a:solidFill>
                  <a:srgbClr val="2A3141"/>
                </a:solidFill>
                <a:latin typeface="Arial"/>
              </a:defRPr>
            </a:pPr>
            <a:r>
              <a:rPr sz="1200"/>
              <a:t>•  Đo revenue, conversion, review</a:t>
            </a:r>
          </a:p>
          <a:p>
            <a:pPr algn="just">
              <a:spcAft>
                <a:spcPts val="600"/>
              </a:spcAft>
              <a:defRPr sz="900">
                <a:solidFill>
                  <a:srgbClr val="2A3141"/>
                </a:solidFill>
                <a:latin typeface="Arial"/>
              </a:defRPr>
            </a:pPr>
            <a:r>
              <a:rPr sz="1200"/>
              <a:t>•  Theo dõi gross margin và chi phí</a:t>
            </a:r>
          </a:p>
          <a:p>
            <a:pPr algn="just">
              <a:spcAft>
                <a:spcPts val="600"/>
              </a:spcAft>
              <a:defRPr sz="900">
                <a:solidFill>
                  <a:srgbClr val="2A3141"/>
                </a:solidFill>
                <a:latin typeface="Arial"/>
              </a:defRPr>
            </a:pPr>
            <a:r>
              <a:rPr sz="1200"/>
              <a:t>•  So sánh với baseline/đối chứng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79408" y="2834640"/>
            <a:ext cx="219456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D96B35"/>
                </a:solidFill>
                <a:latin typeface="Arial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35440" y="1664208"/>
            <a:ext cx="2615184" cy="2852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0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235440" y="1664208"/>
            <a:ext cx="2615184" cy="109728"/>
          </a:xfrm>
          <a:prstGeom prst="rect">
            <a:avLst/>
          </a:prstGeom>
          <a:solidFill>
            <a:srgbClr val="C8A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400032" y="1920240"/>
            <a:ext cx="1143000" cy="292608"/>
          </a:xfrm>
          <a:prstGeom prst="roundRect">
            <a:avLst/>
          </a:prstGeom>
          <a:solidFill>
            <a:srgbClr val="F7E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473184" y="1956816"/>
            <a:ext cx="996696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C8A64B"/>
                </a:solidFill>
                <a:latin typeface="Arial"/>
              </a:rPr>
              <a:t>SAU 12 TUẦN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00032" y="2404872"/>
            <a:ext cx="219456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02A44"/>
                </a:solidFill>
                <a:latin typeface="Arial"/>
              </a:rPr>
              <a:t>SCALE / STOP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00032" y="2944368"/>
            <a:ext cx="2240280" cy="929485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just">
              <a:spcAft>
                <a:spcPts val="600"/>
              </a:spcAft>
              <a:defRPr sz="900">
                <a:solidFill>
                  <a:srgbClr val="2A3141"/>
                </a:solidFill>
                <a:latin typeface="Arial"/>
              </a:defRPr>
            </a:pPr>
            <a:r>
              <a:rPr sz="1200"/>
              <a:t>•  Mở rộng chiến thuật đạt KPI</a:t>
            </a:r>
          </a:p>
          <a:p>
            <a:pPr algn="just">
              <a:spcAft>
                <a:spcPts val="600"/>
              </a:spcAft>
              <a:defRPr sz="900">
                <a:solidFill>
                  <a:srgbClr val="2A3141"/>
                </a:solidFill>
                <a:latin typeface="Arial"/>
              </a:defRPr>
            </a:pPr>
            <a:r>
              <a:rPr sz="1200"/>
              <a:t>•  Dừng/điều chỉnh chiến thuật yếu</a:t>
            </a:r>
          </a:p>
          <a:p>
            <a:pPr algn="just">
              <a:spcAft>
                <a:spcPts val="600"/>
              </a:spcAft>
              <a:defRPr sz="900">
                <a:solidFill>
                  <a:srgbClr val="2A3141"/>
                </a:solidFill>
                <a:latin typeface="Arial"/>
              </a:defRPr>
            </a:pPr>
            <a:r>
              <a:rPr sz="1200"/>
              <a:t>•  Cập nhật dashboard &amp; model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4956048"/>
            <a:ext cx="11027664" cy="868680"/>
          </a:xfrm>
          <a:prstGeom prst="roundRect">
            <a:avLst/>
          </a:prstGeom>
          <a:solidFill>
            <a:srgbClr val="2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2960" y="5175504"/>
            <a:ext cx="196596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C89F"/>
                </a:solidFill>
                <a:latin typeface="Arial"/>
              </a:rPr>
              <a:t>GATE TRƯỚC KHI SCALE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5138928"/>
            <a:ext cx="8412480" cy="37548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FFFFFF"/>
                </a:solidFill>
                <a:latin typeface="Arial"/>
              </a:rPr>
              <a:t>Incremental revenue </a:t>
            </a:r>
            <a:r>
              <a:rPr sz="1100" b="1" i="0" dirty="0" err="1">
                <a:solidFill>
                  <a:srgbClr val="FFFFFF"/>
                </a:solidFill>
                <a:latin typeface="Arial"/>
              </a:rPr>
              <a:t>hoặc</a:t>
            </a:r>
            <a:r>
              <a:rPr sz="1100" b="1" i="0" dirty="0">
                <a:solidFill>
                  <a:srgbClr val="FFFFFF"/>
                </a:solidFill>
                <a:latin typeface="Arial"/>
              </a:rPr>
              <a:t> conversion </a:t>
            </a:r>
            <a:r>
              <a:rPr sz="1100" b="1" i="0" dirty="0" err="1">
                <a:solidFill>
                  <a:srgbClr val="FFFFFF"/>
                </a:solidFill>
                <a:latin typeface="Arial"/>
              </a:rPr>
              <a:t>tốt</a:t>
            </a:r>
            <a:r>
              <a:rPr sz="11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100" b="1" i="0" dirty="0" err="1">
                <a:solidFill>
                  <a:srgbClr val="FFFFFF"/>
                </a:solidFill>
                <a:latin typeface="Arial"/>
              </a:rPr>
              <a:t>hơn</a:t>
            </a:r>
            <a:r>
              <a:rPr sz="1100" b="1" i="0" dirty="0">
                <a:solidFill>
                  <a:srgbClr val="FFFFFF"/>
                </a:solidFill>
                <a:latin typeface="Arial"/>
              </a:rPr>
              <a:t> baseline  •  Gross margin ≥ </a:t>
            </a:r>
            <a:r>
              <a:rPr sz="1100" b="1" i="0" dirty="0" err="1">
                <a:solidFill>
                  <a:srgbClr val="FFFFFF"/>
                </a:solidFill>
                <a:latin typeface="Arial"/>
              </a:rPr>
              <a:t>ngưỡng</a:t>
            </a:r>
            <a:r>
              <a:rPr sz="1100" b="1" i="0" dirty="0">
                <a:solidFill>
                  <a:srgbClr val="FFFFFF"/>
                </a:solidFill>
                <a:latin typeface="Arial"/>
              </a:rPr>
              <a:t>  •  </a:t>
            </a:r>
            <a:r>
              <a:rPr sz="1100" b="1" i="0" dirty="0" err="1">
                <a:solidFill>
                  <a:srgbClr val="FFFFFF"/>
                </a:solidFill>
                <a:latin typeface="Arial"/>
              </a:rPr>
              <a:t>Kết</a:t>
            </a:r>
            <a:r>
              <a:rPr sz="11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100" b="1" i="0" dirty="0" err="1">
                <a:solidFill>
                  <a:srgbClr val="FFFFFF"/>
                </a:solidFill>
                <a:latin typeface="Arial"/>
              </a:rPr>
              <a:t>quả</a:t>
            </a:r>
            <a:r>
              <a:rPr sz="11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100" b="1" i="0" dirty="0" err="1">
                <a:solidFill>
                  <a:srgbClr val="FFFFFF"/>
                </a:solidFill>
                <a:latin typeface="Arial"/>
              </a:rPr>
              <a:t>lặp</a:t>
            </a:r>
            <a:r>
              <a:rPr sz="11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100" b="1" i="0" dirty="0" err="1">
                <a:solidFill>
                  <a:srgbClr val="FFFFFF"/>
                </a:solidFill>
                <a:latin typeface="Arial"/>
              </a:rPr>
              <a:t>lại</a:t>
            </a:r>
            <a:r>
              <a:rPr sz="11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100" b="1" i="0" dirty="0" err="1">
                <a:solidFill>
                  <a:srgbClr val="FFFFFF"/>
                </a:solidFill>
                <a:latin typeface="Arial"/>
              </a:rPr>
              <a:t>được</a:t>
            </a:r>
            <a:r>
              <a:rPr sz="1100" b="1" i="0" dirty="0">
                <a:solidFill>
                  <a:srgbClr val="FFFFFF"/>
                </a:solidFill>
                <a:latin typeface="Arial"/>
              </a:rPr>
              <a:t>  •  </a:t>
            </a:r>
            <a:r>
              <a:rPr sz="1100" b="1" i="0" dirty="0" err="1">
                <a:solidFill>
                  <a:srgbClr val="FFFFFF"/>
                </a:solidFill>
                <a:latin typeface="Arial"/>
              </a:rPr>
              <a:t>Không</a:t>
            </a:r>
            <a:r>
              <a:rPr sz="11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100" b="1" i="0" dirty="0" err="1">
                <a:solidFill>
                  <a:srgbClr val="FFFFFF"/>
                </a:solidFill>
                <a:latin typeface="Arial"/>
              </a:rPr>
              <a:t>làm</a:t>
            </a:r>
            <a:r>
              <a:rPr sz="11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100" b="1" i="0" dirty="0" err="1">
                <a:solidFill>
                  <a:srgbClr val="FFFFFF"/>
                </a:solidFill>
                <a:latin typeface="Arial"/>
              </a:rPr>
              <a:t>giảm</a:t>
            </a:r>
            <a:r>
              <a:rPr sz="11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100" b="1" i="0" dirty="0" err="1">
                <a:solidFill>
                  <a:srgbClr val="FFFFFF"/>
                </a:solidFill>
                <a:latin typeface="Arial"/>
              </a:rPr>
              <a:t>trải</a:t>
            </a:r>
            <a:r>
              <a:rPr sz="11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100" b="1" i="0" dirty="0" err="1">
                <a:solidFill>
                  <a:srgbClr val="FFFFFF"/>
                </a:solidFill>
                <a:latin typeface="Arial"/>
              </a:rPr>
              <a:t>nghiệm</a:t>
            </a:r>
            <a:r>
              <a:rPr sz="11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100" b="1" i="0" dirty="0" err="1">
                <a:solidFill>
                  <a:srgbClr val="FFFFFF"/>
                </a:solidFill>
                <a:latin typeface="Arial"/>
              </a:rPr>
              <a:t>khách</a:t>
            </a:r>
            <a:r>
              <a:rPr sz="11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100" b="1" i="0" dirty="0" err="1">
                <a:solidFill>
                  <a:srgbClr val="FFFFFF"/>
                </a:solidFill>
                <a:latin typeface="Arial"/>
              </a:rPr>
              <a:t>hàng</a:t>
            </a:r>
            <a:endParaRPr sz="11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58368" y="6016752"/>
            <a:ext cx="108813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Arial"/>
              </a:rPr>
              <a:t>Continuous: cập nhật dữ liệu, kiểm tra model drift, đánh giá lại theo thời gian khi có thêm dữ liệu timestamp.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18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8346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96B35"/>
                </a:solidFill>
                <a:latin typeface="Arial"/>
              </a:rPr>
              <a:t>16 • TRUST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02A44"/>
                </a:solidFill>
                <a:latin typeface="Arial"/>
              </a:rPr>
              <a:t>Rủi ro, giới hạn và điều kiện để tin kết quả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05840"/>
            <a:ext cx="1106424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Arial"/>
              </a:rPr>
              <a:t>Kết quả hiện đủ tốt để hỗ trợ ưu tiên thử nghiệm, chưa đủ để khẳng định quan hệ nhân quả hoặc dự báo doanh số tương lai.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8890">
            <a:solidFill>
              <a:srgbClr val="E7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21207" y="6565392"/>
            <a:ext cx="45720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B7280"/>
                </a:solidFill>
                <a:latin typeface="Arial"/>
              </a:rPr>
              <a:t>TADA BOOK ANALYTICS  •  TASK 6–10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56248"/>
            <a:ext cx="8229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B7280"/>
                </a:solidFill>
                <a:latin typeface="Arial"/>
              </a:rPr>
              <a:t>17 /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81328"/>
            <a:ext cx="5285232" cy="1152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0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22376" y="1636776"/>
            <a:ext cx="438912" cy="292608"/>
          </a:xfrm>
          <a:prstGeom prst="roundRect">
            <a:avLst/>
          </a:prstGeom>
          <a:solidFill>
            <a:srgbClr val="F7E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1673352"/>
            <a:ext cx="292607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18A56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16736" y="1627632"/>
            <a:ext cx="42062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02A44"/>
                </a:solidFill>
                <a:latin typeface="Arial"/>
              </a:rPr>
              <a:t>Định nghĩa nhãn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1938528"/>
            <a:ext cx="41605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A3141"/>
                </a:solidFill>
                <a:latin typeface="Arial"/>
              </a:rPr>
              <a:t>Bestseller = quantity ≥ 500 là quy ước dự án, không phải nhãn chính thức.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481328"/>
            <a:ext cx="5285232" cy="1152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0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281928" y="1636776"/>
            <a:ext cx="438912" cy="292608"/>
          </a:xfrm>
          <a:prstGeom prst="roundRect">
            <a:avLst/>
          </a:prstGeom>
          <a:solidFill>
            <a:srgbClr val="F7E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673352"/>
            <a:ext cx="292607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827DBB"/>
                </a:solidFill>
                <a:latin typeface="Arial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6288" y="1627632"/>
            <a:ext cx="42062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02A44"/>
                </a:solidFill>
                <a:latin typeface="Arial"/>
              </a:rPr>
              <a:t>Không có thời gian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1938528"/>
            <a:ext cx="41605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A3141"/>
                </a:solidFill>
                <a:latin typeface="Arial"/>
              </a:rPr>
              <a:t>Chưa kiểm định bằng temporal split; chưa chứng minh khả năng dự báo sách mới.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2834640"/>
            <a:ext cx="5285232" cy="1152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0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22376" y="2990088"/>
            <a:ext cx="438912" cy="292608"/>
          </a:xfrm>
          <a:prstGeom prst="roundRect">
            <a:avLst/>
          </a:prstGeom>
          <a:solidFill>
            <a:srgbClr val="F7E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5528" y="3026664"/>
            <a:ext cx="292607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78A79"/>
                </a:solidFill>
                <a:latin typeface="Arial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16736" y="2980944"/>
            <a:ext cx="42062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02A44"/>
                </a:solidFill>
                <a:latin typeface="Arial"/>
              </a:rPr>
              <a:t>Data leakage tiềm tàng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6736" y="3291840"/>
            <a:ext cx="41605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A3141"/>
                </a:solidFill>
                <a:latin typeface="Arial"/>
              </a:rPr>
              <a:t>n_review / avg_rating có thể phát sinh sau bán hàng; không phù hợp cho dự báo sớm nếu chưa kiểm soát thời điểm.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2834640"/>
            <a:ext cx="5285232" cy="1152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0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281928" y="2990088"/>
            <a:ext cx="438912" cy="292608"/>
          </a:xfrm>
          <a:prstGeom prst="roundRect">
            <a:avLst/>
          </a:prstGeom>
          <a:solidFill>
            <a:srgbClr val="F7E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5080" y="3026664"/>
            <a:ext cx="292607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C8A64B"/>
                </a:solidFill>
                <a:latin typeface="Arial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76288" y="2980944"/>
            <a:ext cx="42062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02A44"/>
                </a:solidFill>
                <a:latin typeface="Arial"/>
              </a:rPr>
              <a:t>Không chứng minh nhân quả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6288" y="3291840"/>
            <a:ext cx="41605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A3141"/>
                </a:solidFill>
                <a:latin typeface="Arial"/>
              </a:rPr>
              <a:t>Correlation / Feature Importance chỉ gợi ý tín hiệu; cần A/B test và nhóm đối chứng.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187952"/>
            <a:ext cx="5285232" cy="1152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0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22376" y="4343400"/>
            <a:ext cx="438912" cy="292608"/>
          </a:xfrm>
          <a:prstGeom prst="roundRect">
            <a:avLst/>
          </a:prstGeom>
          <a:solidFill>
            <a:srgbClr val="F7E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95528" y="4379976"/>
            <a:ext cx="292607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C54F4F"/>
                </a:solidFill>
                <a:latin typeface="Arial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16736" y="4334256"/>
            <a:ext cx="42062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02A44"/>
                </a:solidFill>
                <a:latin typeface="Arial"/>
              </a:rPr>
              <a:t>Thiếu economics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16736" y="4645152"/>
            <a:ext cx="41605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A3141"/>
                </a:solidFill>
                <a:latin typeface="Arial"/>
              </a:rPr>
              <a:t>Chưa có gross margin, inventory, stock-out, promo cost; doanh thu không bằng lợi nhuận.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80" y="4187952"/>
            <a:ext cx="5285232" cy="1152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0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281928" y="4343400"/>
            <a:ext cx="438912" cy="292608"/>
          </a:xfrm>
          <a:prstGeom prst="roundRect">
            <a:avLst/>
          </a:prstGeom>
          <a:solidFill>
            <a:srgbClr val="F7E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55080" y="4379976"/>
            <a:ext cx="292607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04C91"/>
                </a:solidFill>
                <a:latin typeface="Arial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76288" y="4334256"/>
            <a:ext cx="42062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02A44"/>
                </a:solidFill>
                <a:latin typeface="Arial"/>
              </a:rPr>
              <a:t>Chất lượng danh mục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76288" y="4645152"/>
            <a:ext cx="41605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A3141"/>
                </a:solidFill>
                <a:latin typeface="Arial"/>
              </a:rPr>
              <a:t>265 dòng manufacturer = Unknown; “Others” có 766 sách, cần xử lý lại trước quyết định chi tiết.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5715000"/>
            <a:ext cx="10972800" cy="484632"/>
          </a:xfrm>
          <a:prstGeom prst="roundRect">
            <a:avLst/>
          </a:prstGeom>
          <a:solidFill>
            <a:srgbClr val="F7E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68096" y="5852160"/>
            <a:ext cx="105613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96B35"/>
                </a:solidFill>
                <a:latin typeface="Arial"/>
              </a:rPr>
              <a:t>ĐIỀU KIỆN ĐỂ TIN: đặc trưng khả dụng tại thời điểm dự báo • kiểm định trên giai đoạn thời gian mới • KPI có đối chứng • kiểm tra margin &amp; tồn kho.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18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7498079" cy="11155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Arial"/>
              </a:rPr>
              <a:t>Từ insight đến hành động —</a:t>
            </a:r>
            <a:br/>
            <a:r>
              <a:rPr sz="2900" b="1" i="0">
                <a:solidFill>
                  <a:srgbClr val="FFFFFF"/>
                </a:solidFill>
                <a:latin typeface="Arial"/>
              </a:rPr>
              <a:t>đo lường trước khi mở rộng.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514600"/>
            <a:ext cx="3493008" cy="1508760"/>
          </a:xfrm>
          <a:prstGeom prst="roundRect">
            <a:avLst/>
          </a:prstGeom>
          <a:solidFill>
            <a:srgbClr val="2D3854"/>
          </a:solidFill>
          <a:ln w="10160">
            <a:solidFill>
              <a:srgbClr val="45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59" y="2724912"/>
            <a:ext cx="438912" cy="292608"/>
          </a:xfrm>
          <a:prstGeom prst="roundRect">
            <a:avLst/>
          </a:prstGeom>
          <a:solidFill>
            <a:srgbClr val="F18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1" y="2761488"/>
            <a:ext cx="292607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182112"/>
            <a:ext cx="3090672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Tối ưu danh mục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547872"/>
            <a:ext cx="3108960" cy="3600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 dirty="0" err="1">
                <a:solidFill>
                  <a:srgbClr val="E7EAF2"/>
                </a:solidFill>
                <a:latin typeface="Arial"/>
              </a:rPr>
              <a:t>Dưới</a:t>
            </a:r>
            <a:r>
              <a:rPr sz="1050" b="0" i="0" dirty="0">
                <a:solidFill>
                  <a:srgbClr val="E7EAF2"/>
                </a:solidFill>
                <a:latin typeface="Arial"/>
              </a:rPr>
              <a:t> $5 </a:t>
            </a:r>
            <a:r>
              <a:rPr sz="1050" b="0" i="0" dirty="0" err="1">
                <a:solidFill>
                  <a:srgbClr val="E7EAF2"/>
                </a:solidFill>
                <a:latin typeface="Arial"/>
              </a:rPr>
              <a:t>tạo</a:t>
            </a:r>
            <a:r>
              <a:rPr sz="1050" b="0" i="0" dirty="0">
                <a:solidFill>
                  <a:srgbClr val="E7EAF2"/>
                </a:solidFill>
                <a:latin typeface="Arial"/>
              </a:rPr>
              <a:t> 53,96% </a:t>
            </a:r>
            <a:r>
              <a:rPr sz="1050" b="0" i="0" dirty="0" err="1">
                <a:solidFill>
                  <a:srgbClr val="E7EAF2"/>
                </a:solidFill>
                <a:latin typeface="Arial"/>
              </a:rPr>
              <a:t>doanh</a:t>
            </a:r>
            <a:r>
              <a:rPr sz="1050" b="0" i="0" dirty="0">
                <a:solidFill>
                  <a:srgbClr val="E7EAF2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E7EAF2"/>
                </a:solidFill>
                <a:latin typeface="Arial"/>
              </a:rPr>
              <a:t>thu</a:t>
            </a:r>
            <a:r>
              <a:rPr sz="1050" b="0" i="0" dirty="0">
                <a:solidFill>
                  <a:srgbClr val="E7EAF2"/>
                </a:solidFill>
                <a:latin typeface="Arial"/>
              </a:rPr>
              <a:t>; </a:t>
            </a:r>
            <a:r>
              <a:rPr sz="1050" b="0" i="0" dirty="0" err="1">
                <a:solidFill>
                  <a:srgbClr val="E7EAF2"/>
                </a:solidFill>
                <a:latin typeface="Arial"/>
              </a:rPr>
              <a:t>đo</a:t>
            </a:r>
            <a:r>
              <a:rPr sz="1050" b="0" i="0" dirty="0">
                <a:solidFill>
                  <a:srgbClr val="E7EAF2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E7EAF2"/>
                </a:solidFill>
                <a:latin typeface="Arial"/>
              </a:rPr>
              <a:t>hiệu</a:t>
            </a:r>
            <a:r>
              <a:rPr sz="1050" b="0" i="0" dirty="0">
                <a:solidFill>
                  <a:srgbClr val="E7EAF2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E7EAF2"/>
                </a:solidFill>
                <a:latin typeface="Arial"/>
              </a:rPr>
              <a:t>quả</a:t>
            </a:r>
            <a:r>
              <a:rPr sz="1050" b="0" i="0" dirty="0">
                <a:solidFill>
                  <a:srgbClr val="E7EAF2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E7EAF2"/>
                </a:solidFill>
                <a:latin typeface="Arial"/>
              </a:rPr>
              <a:t>trên</a:t>
            </a:r>
            <a:r>
              <a:rPr sz="1050" b="0" i="0" dirty="0">
                <a:solidFill>
                  <a:srgbClr val="E7EAF2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E7EAF2"/>
                </a:solidFill>
                <a:latin typeface="Arial"/>
              </a:rPr>
              <a:t>từng</a:t>
            </a:r>
            <a:r>
              <a:rPr sz="1050" b="0" i="0" dirty="0">
                <a:solidFill>
                  <a:srgbClr val="E7EAF2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E7EAF2"/>
                </a:solidFill>
                <a:latin typeface="Arial"/>
              </a:rPr>
              <a:t>đầu</a:t>
            </a:r>
            <a:r>
              <a:rPr sz="1050" b="0" i="0" dirty="0">
                <a:solidFill>
                  <a:srgbClr val="E7EAF2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E7EAF2"/>
                </a:solidFill>
                <a:latin typeface="Arial"/>
              </a:rPr>
              <a:t>sách</a:t>
            </a:r>
            <a:r>
              <a:rPr sz="1050" b="0" i="0" dirty="0">
                <a:solidFill>
                  <a:srgbClr val="E7EAF2"/>
                </a:solidFill>
                <a:latin typeface="Arial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71416" y="2514600"/>
            <a:ext cx="3493008" cy="1508760"/>
          </a:xfrm>
          <a:prstGeom prst="roundRect">
            <a:avLst/>
          </a:prstGeom>
          <a:solidFill>
            <a:srgbClr val="2D3854"/>
          </a:solidFill>
          <a:ln w="10160">
            <a:solidFill>
              <a:srgbClr val="45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636007" y="2724912"/>
            <a:ext cx="438912" cy="292608"/>
          </a:xfrm>
          <a:prstGeom prst="roundRect">
            <a:avLst/>
          </a:prstGeom>
          <a:solidFill>
            <a:srgbClr val="827D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09159" y="2761488"/>
            <a:ext cx="292607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3182112"/>
            <a:ext cx="3090672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Tăng tín hiệu khách hàng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3547872"/>
            <a:ext cx="3108960" cy="3600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7EAF2"/>
                </a:solidFill>
                <a:latin typeface="Arial"/>
              </a:rPr>
              <a:t>Review volume nổi bật trong mô hình; thử nghiệm thu thập review có đối chứng.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84464" y="2514600"/>
            <a:ext cx="3493008" cy="1508760"/>
          </a:xfrm>
          <a:prstGeom prst="roundRect">
            <a:avLst/>
          </a:prstGeom>
          <a:solidFill>
            <a:srgbClr val="2D3854"/>
          </a:solidFill>
          <a:ln w="10160">
            <a:solidFill>
              <a:srgbClr val="45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449056" y="2724912"/>
            <a:ext cx="438912" cy="292608"/>
          </a:xfrm>
          <a:prstGeom prst="roundRect">
            <a:avLst/>
          </a:prstGeom>
          <a:solidFill>
            <a:srgbClr val="278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22208" y="2761488"/>
            <a:ext cx="292607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6" y="3182112"/>
            <a:ext cx="3090672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Dùng ML như bộ lọc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6" y="3547872"/>
            <a:ext cx="3108960" cy="3600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7EAF2"/>
                </a:solidFill>
                <a:latin typeface="Arial"/>
              </a:rPr>
              <a:t>Random Forest F1 92,6%; ưu tiên shortlist, không thay thế phán đoán kinh doanh.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443984"/>
            <a:ext cx="219456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C89F"/>
                </a:solidFill>
                <a:latin typeface="Arial"/>
              </a:rPr>
              <a:t>ĐỀ XUẤT QUYẾT ĐỊNH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818888"/>
            <a:ext cx="987552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dirty="0" err="1">
                <a:solidFill>
                  <a:srgbClr val="FFFFFF"/>
                </a:solidFill>
                <a:latin typeface="Arial"/>
              </a:rPr>
              <a:t>Phê</a:t>
            </a:r>
            <a:r>
              <a:rPr sz="16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600" b="1" i="0" dirty="0" err="1">
                <a:solidFill>
                  <a:srgbClr val="FFFFFF"/>
                </a:solidFill>
                <a:latin typeface="Arial"/>
              </a:rPr>
              <a:t>duyệt</a:t>
            </a:r>
            <a:r>
              <a:rPr sz="1600" b="1" i="0" dirty="0">
                <a:solidFill>
                  <a:srgbClr val="FFFFFF"/>
                </a:solidFill>
                <a:latin typeface="Arial"/>
              </a:rPr>
              <a:t> pilot 12 </a:t>
            </a:r>
            <a:r>
              <a:rPr sz="1600" b="1" i="0" dirty="0" err="1">
                <a:solidFill>
                  <a:srgbClr val="FFFFFF"/>
                </a:solidFill>
                <a:latin typeface="Arial"/>
              </a:rPr>
              <a:t>tuần</a:t>
            </a:r>
            <a:r>
              <a:rPr sz="16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600" b="1" i="0" dirty="0" err="1">
                <a:solidFill>
                  <a:srgbClr val="FFFFFF"/>
                </a:solidFill>
                <a:latin typeface="Arial"/>
              </a:rPr>
              <a:t>cho</a:t>
            </a:r>
            <a:r>
              <a:rPr sz="1600" b="1" i="0" dirty="0">
                <a:solidFill>
                  <a:srgbClr val="FFFFFF"/>
                </a:solidFill>
                <a:latin typeface="Arial"/>
              </a:rPr>
              <a:t> CS1 + MK1 + CM2; </a:t>
            </a:r>
            <a:r>
              <a:rPr sz="1600" b="1" i="0" dirty="0" err="1">
                <a:solidFill>
                  <a:srgbClr val="FFFFFF"/>
                </a:solidFill>
                <a:latin typeface="Arial"/>
              </a:rPr>
              <a:t>đặt</a:t>
            </a:r>
            <a:r>
              <a:rPr sz="1600" b="1" i="0" dirty="0">
                <a:solidFill>
                  <a:srgbClr val="FFFFFF"/>
                </a:solidFill>
                <a:latin typeface="Arial"/>
              </a:rPr>
              <a:t> baseline </a:t>
            </a:r>
            <a:r>
              <a:rPr sz="1600" b="1" i="0" dirty="0" err="1">
                <a:solidFill>
                  <a:srgbClr val="FFFFFF"/>
                </a:solidFill>
                <a:latin typeface="Arial"/>
              </a:rPr>
              <a:t>và</a:t>
            </a:r>
            <a:r>
              <a:rPr sz="1600" b="1" i="0" dirty="0">
                <a:solidFill>
                  <a:srgbClr val="FFFFFF"/>
                </a:solidFill>
                <a:latin typeface="Arial"/>
              </a:rPr>
              <a:t> guardrail margin </a:t>
            </a:r>
            <a:r>
              <a:rPr sz="1600" b="1" i="0" dirty="0" err="1">
                <a:solidFill>
                  <a:srgbClr val="FFFFFF"/>
                </a:solidFill>
                <a:latin typeface="Arial"/>
              </a:rPr>
              <a:t>từ</a:t>
            </a:r>
            <a:r>
              <a:rPr sz="16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600" b="1" i="0" dirty="0" err="1">
                <a:solidFill>
                  <a:srgbClr val="FFFFFF"/>
                </a:solidFill>
                <a:latin typeface="Arial"/>
              </a:rPr>
              <a:t>tuần</a:t>
            </a:r>
            <a:r>
              <a:rPr sz="1600" b="1" i="0" dirty="0">
                <a:solidFill>
                  <a:srgbClr val="FFFFFF"/>
                </a:solidFill>
                <a:latin typeface="Arial"/>
              </a:rPr>
              <a:t> 1.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3232" y="5650992"/>
            <a:ext cx="10762488" cy="0"/>
          </a:xfrm>
          <a:prstGeom prst="line">
            <a:avLst/>
          </a:prstGeom>
          <a:ln w="12700">
            <a:solidFill>
              <a:srgbClr val="6570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13232" y="5879592"/>
            <a:ext cx="1088136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FFC89F"/>
                </a:solidFill>
                <a:latin typeface="Arial"/>
              </a:rPr>
              <a:t>Bestseller </a:t>
            </a:r>
            <a:r>
              <a:rPr sz="1100" b="1" i="0" dirty="0" err="1">
                <a:solidFill>
                  <a:srgbClr val="FFC89F"/>
                </a:solidFill>
                <a:latin typeface="Arial"/>
              </a:rPr>
              <a:t>tiêu</a:t>
            </a:r>
            <a:r>
              <a:rPr sz="1100" b="1" i="0" dirty="0">
                <a:solidFill>
                  <a:srgbClr val="FFC89F"/>
                </a:solidFill>
                <a:latin typeface="Arial"/>
              </a:rPr>
              <a:t> </a:t>
            </a:r>
            <a:r>
              <a:rPr sz="1100" b="1" i="0" dirty="0" err="1">
                <a:solidFill>
                  <a:srgbClr val="FFC89F"/>
                </a:solidFill>
                <a:latin typeface="Arial"/>
              </a:rPr>
              <a:t>biểu</a:t>
            </a:r>
            <a:r>
              <a:rPr sz="1100" b="1" i="0" dirty="0">
                <a:solidFill>
                  <a:srgbClr val="FFC89F"/>
                </a:solidFill>
                <a:latin typeface="Arial"/>
              </a:rPr>
              <a:t> </a:t>
            </a:r>
            <a:r>
              <a:rPr sz="1100" b="1" i="0" dirty="0" err="1">
                <a:solidFill>
                  <a:srgbClr val="FFC89F"/>
                </a:solidFill>
                <a:latin typeface="Arial"/>
              </a:rPr>
              <a:t>trong</a:t>
            </a:r>
            <a:r>
              <a:rPr sz="1100" b="1" i="0" dirty="0">
                <a:solidFill>
                  <a:srgbClr val="FFC89F"/>
                </a:solidFill>
                <a:latin typeface="Arial"/>
              </a:rPr>
              <a:t> </a:t>
            </a:r>
            <a:r>
              <a:rPr sz="1100" b="1" i="0" dirty="0" err="1">
                <a:solidFill>
                  <a:srgbClr val="FFC89F"/>
                </a:solidFill>
                <a:latin typeface="Arial"/>
              </a:rPr>
              <a:t>dữ</a:t>
            </a:r>
            <a:r>
              <a:rPr sz="1100" b="1" i="0" dirty="0">
                <a:solidFill>
                  <a:srgbClr val="FFC89F"/>
                </a:solidFill>
                <a:latin typeface="Arial"/>
              </a:rPr>
              <a:t> </a:t>
            </a:r>
            <a:r>
              <a:rPr sz="1100" b="1" i="0" dirty="0" err="1">
                <a:solidFill>
                  <a:srgbClr val="FFC89F"/>
                </a:solidFill>
                <a:latin typeface="Arial"/>
              </a:rPr>
              <a:t>liệu</a:t>
            </a:r>
            <a:r>
              <a:rPr sz="1100" b="1" i="0" dirty="0">
                <a:solidFill>
                  <a:srgbClr val="FFC89F"/>
                </a:solidFill>
                <a:latin typeface="Arial"/>
              </a:rPr>
              <a:t>: OSHO – </a:t>
            </a:r>
            <a:r>
              <a:rPr sz="1100" b="1" i="0" dirty="0" err="1">
                <a:solidFill>
                  <a:srgbClr val="FFC89F"/>
                </a:solidFill>
                <a:latin typeface="Arial"/>
              </a:rPr>
              <a:t>Yêu</a:t>
            </a:r>
            <a:r>
              <a:rPr sz="1100" b="1" i="0" dirty="0">
                <a:solidFill>
                  <a:srgbClr val="FFC89F"/>
                </a:solidFill>
                <a:latin typeface="Arial"/>
              </a:rPr>
              <a:t> – Being In Love • 671.121 </a:t>
            </a:r>
            <a:r>
              <a:rPr sz="1100" b="1" i="0" dirty="0" err="1">
                <a:solidFill>
                  <a:srgbClr val="FFC89F"/>
                </a:solidFill>
                <a:latin typeface="Arial"/>
              </a:rPr>
              <a:t>cuốn</a:t>
            </a:r>
            <a:r>
              <a:rPr sz="1100" b="1" i="0" dirty="0">
                <a:solidFill>
                  <a:srgbClr val="FFC89F"/>
                </a:solidFill>
                <a:latin typeface="Arial"/>
              </a:rPr>
              <a:t> • $3,14M </a:t>
            </a:r>
            <a:r>
              <a:rPr sz="1100" b="1" i="0" dirty="0" err="1">
                <a:solidFill>
                  <a:srgbClr val="FFC89F"/>
                </a:solidFill>
                <a:latin typeface="Arial"/>
              </a:rPr>
              <a:t>doanh</a:t>
            </a:r>
            <a:r>
              <a:rPr sz="1100" b="1" i="0" dirty="0">
                <a:solidFill>
                  <a:srgbClr val="FFC89F"/>
                </a:solidFill>
                <a:latin typeface="Arial"/>
              </a:rPr>
              <a:t> </a:t>
            </a:r>
            <a:r>
              <a:rPr sz="1100" b="1" i="0" dirty="0" err="1">
                <a:solidFill>
                  <a:srgbClr val="FFC89F"/>
                </a:solidFill>
                <a:latin typeface="Arial"/>
              </a:rPr>
              <a:t>thu</a:t>
            </a:r>
            <a:r>
              <a:rPr sz="1100" b="1" i="0" dirty="0">
                <a:solidFill>
                  <a:srgbClr val="FFC89F"/>
                </a:solidFill>
                <a:latin typeface="Arial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6400800"/>
            <a:ext cx="29260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C9CEDB"/>
                </a:solidFill>
                <a:latin typeface="Arial"/>
              </a:rPr>
              <a:t>TADA BOOK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27080" y="6400800"/>
            <a:ext cx="5029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C9CEDB"/>
                </a:solidFill>
                <a:latin typeface="Arial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2611</Words>
  <Application>Microsoft Office PowerPoint</Application>
  <PresentationFormat>Widescreen</PresentationFormat>
  <Paragraphs>381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TADA BOOK Analytics — From Data to Business Action</dc:title>
  <dc:subject>Phân tích hiệu quả kinh doanh và nhận diện sách Bestseller tại TADA BOOK</dc:subject>
  <dc:creator>OpenAI</dc:creator>
  <cp:keywords>TADA BOOK, Data Analytics, Power BI, Random Forest, Bestseller</cp:keywords>
  <dc:description>generated using python-pptx</dc:description>
  <cp:lastModifiedBy>a44851 Lương Quốc Hào</cp:lastModifiedBy>
  <cp:revision>3</cp:revision>
  <dcterms:created xsi:type="dcterms:W3CDTF">2013-01-27T09:14:16Z</dcterms:created>
  <dcterms:modified xsi:type="dcterms:W3CDTF">2026-10-19T16:07:39Z</dcterms:modified>
  <cp:category/>
</cp:coreProperties>
</file>